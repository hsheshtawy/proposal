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69" r:id="rId3"/>
    <p:sldId id="270" r:id="rId4"/>
    <p:sldId id="274" r:id="rId5"/>
    <p:sldId id="271" r:id="rId6"/>
    <p:sldId id="272" r:id="rId7"/>
    <p:sldId id="275" r:id="rId8"/>
    <p:sldId id="276" r:id="rId9"/>
    <p:sldId id="277" r:id="rId10"/>
    <p:sldId id="278" r:id="rId11"/>
    <p:sldId id="279" r:id="rId12"/>
    <p:sldId id="265" r:id="rId13"/>
    <p:sldId id="259"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jOmBtk5DbvnkierGKxpb4ZbKw0W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60"/>
  </p:normalViewPr>
  <p:slideViewPr>
    <p:cSldViewPr snapToGrid="0">
      <p:cViewPr varScale="1">
        <p:scale>
          <a:sx n="76" d="100"/>
          <a:sy n="76" d="100"/>
        </p:scale>
        <p:origin x="619"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26"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5" Type="http://customschemas.google.com/relationships/presentationmetadata" Target="metadata"/><Relationship Id="rId2" Type="http://schemas.openxmlformats.org/officeDocument/2006/relationships/slide" Target="slides/slide1.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F78F9E9-72E1-BDD8-92A8-340C0216BC43}"/>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7DCBED14-580B-F36B-A115-9E4C480DE8E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1:notes">
            <a:extLst>
              <a:ext uri="{FF2B5EF4-FFF2-40B4-BE49-F238E27FC236}">
                <a16:creationId xmlns:a16="http://schemas.microsoft.com/office/drawing/2014/main" id="{25D54B83-054C-D8A2-8D9E-5C33BEC5C30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47542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ABCA30A-916F-DE97-3A7E-9B8520FFDA87}"/>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308DE8BE-FFC8-B30B-C1B7-499F01FBA0B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1:notes">
            <a:extLst>
              <a:ext uri="{FF2B5EF4-FFF2-40B4-BE49-F238E27FC236}">
                <a16:creationId xmlns:a16="http://schemas.microsoft.com/office/drawing/2014/main" id="{4CC23EBE-6DF3-2426-0FBC-2E7C5516755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028057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331651E-45FD-20B6-89E3-573FC68CC454}"/>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C15E15F4-2560-CDFA-CD2B-B843267BC87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1:notes">
            <a:extLst>
              <a:ext uri="{FF2B5EF4-FFF2-40B4-BE49-F238E27FC236}">
                <a16:creationId xmlns:a16="http://schemas.microsoft.com/office/drawing/2014/main" id="{E55A6474-0E22-08BD-5ED9-878ADBC622B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8498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954E941-5F23-656C-C736-1E5800EAAF71}"/>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57DCFD3F-9B5F-562B-98EB-41D9AE49D19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1:notes">
            <a:extLst>
              <a:ext uri="{FF2B5EF4-FFF2-40B4-BE49-F238E27FC236}">
                <a16:creationId xmlns:a16="http://schemas.microsoft.com/office/drawing/2014/main" id="{80B1DC59-A46A-9ADD-A3DD-874E5CAA742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83386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9B5FC76-107E-F8B8-1078-35FFCE03D863}"/>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848449A0-1E59-82ED-6FDE-C7C2CF4ECB1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1:notes">
            <a:extLst>
              <a:ext uri="{FF2B5EF4-FFF2-40B4-BE49-F238E27FC236}">
                <a16:creationId xmlns:a16="http://schemas.microsoft.com/office/drawing/2014/main" id="{69AC458E-44F1-C749-1A68-01D7F69C294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71789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D7CE794-A8A9-F1E9-F9AA-9058C3B0F3EA}"/>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B11655A8-A87D-A983-60BF-969AC3D8CE8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1:notes">
            <a:extLst>
              <a:ext uri="{FF2B5EF4-FFF2-40B4-BE49-F238E27FC236}">
                <a16:creationId xmlns:a16="http://schemas.microsoft.com/office/drawing/2014/main" id="{6CD2D022-8B3A-AC96-0E0A-50AC9E3A8E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90924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35E5A9C-A430-4153-FC9D-8FC5CEE8768B}"/>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BC413330-A7D1-AD9E-ECEC-703101E3D5F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1:notes">
            <a:extLst>
              <a:ext uri="{FF2B5EF4-FFF2-40B4-BE49-F238E27FC236}">
                <a16:creationId xmlns:a16="http://schemas.microsoft.com/office/drawing/2014/main" id="{605939A3-1F1C-98E8-C91D-F0AE094CAF6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42445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E0C37D5-0C7B-2D7B-EF8D-5C816FDE792E}"/>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93C6A06F-3571-6864-B746-8A302F49058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1:notes">
            <a:extLst>
              <a:ext uri="{FF2B5EF4-FFF2-40B4-BE49-F238E27FC236}">
                <a16:creationId xmlns:a16="http://schemas.microsoft.com/office/drawing/2014/main" id="{F411E9FB-9D68-77DB-D113-7A6BB39C72C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16758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BA47931-EA7E-3F69-3017-B975397C40CF}"/>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502A3EE6-37C9-8D69-1BB1-9AA9B8C247E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1:notes">
            <a:extLst>
              <a:ext uri="{FF2B5EF4-FFF2-40B4-BE49-F238E27FC236}">
                <a16:creationId xmlns:a16="http://schemas.microsoft.com/office/drawing/2014/main" id="{CD5B16A9-0A7B-65B8-6BA4-49B3821FF00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336443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5DD86CA-3EF9-3D06-3F15-C6115D06D3A7}"/>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6AB30583-2BCE-9FED-CF57-9FAD28B09E8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1:notes">
            <a:extLst>
              <a:ext uri="{FF2B5EF4-FFF2-40B4-BE49-F238E27FC236}">
                <a16:creationId xmlns:a16="http://schemas.microsoft.com/office/drawing/2014/main" id="{798914AA-8C70-252D-75DB-6B465009E1E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77695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
        <p:cNvGrpSpPr/>
        <p:nvPr/>
      </p:nvGrpSpPr>
      <p:grpSpPr>
        <a:xfrm>
          <a:off x="0" y="0"/>
          <a:ext cx="0" cy="0"/>
          <a:chOff x="0" y="0"/>
          <a:chExt cx="0" cy="0"/>
        </a:xfrm>
      </p:grpSpPr>
      <p:sp>
        <p:nvSpPr>
          <p:cNvPr id="21" name="Google Shape;2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5"/>
        <p:cNvGrpSpPr/>
        <p:nvPr/>
      </p:nvGrpSpPr>
      <p:grpSpPr>
        <a:xfrm>
          <a:off x="0" y="0"/>
          <a:ext cx="0" cy="0"/>
          <a:chOff x="0" y="0"/>
          <a:chExt cx="0" cy="0"/>
        </a:xfrm>
      </p:grpSpPr>
      <p:sp>
        <p:nvSpPr>
          <p:cNvPr id="36" name="Google Shape;36;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7"/>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40" name="Google Shape;40;p17"/>
          <p:cNvPicPr preferRelativeResize="0"/>
          <p:nvPr/>
        </p:nvPicPr>
        <p:blipFill rotWithShape="1">
          <a:blip r:embed="rId2">
            <a:alphaModFix/>
          </a:blip>
          <a:srcRect/>
          <a:stretch/>
        </p:blipFill>
        <p:spPr>
          <a:xfrm>
            <a:off x="10711512" y="330213"/>
            <a:ext cx="1284576" cy="637759"/>
          </a:xfrm>
          <a:prstGeom prst="rect">
            <a:avLst/>
          </a:prstGeom>
          <a:noFill/>
          <a:ln>
            <a:noFill/>
          </a:ln>
        </p:spPr>
      </p:pic>
      <p:pic>
        <p:nvPicPr>
          <p:cNvPr id="41" name="Google Shape;41;p17"/>
          <p:cNvPicPr preferRelativeResize="0"/>
          <p:nvPr/>
        </p:nvPicPr>
        <p:blipFill rotWithShape="1">
          <a:blip r:embed="rId3">
            <a:alphaModFix/>
          </a:blip>
          <a:srcRect/>
          <a:stretch/>
        </p:blipFill>
        <p:spPr>
          <a:xfrm>
            <a:off x="93317" y="0"/>
            <a:ext cx="1489765" cy="1386637"/>
          </a:xfrm>
          <a:prstGeom prst="rect">
            <a:avLst/>
          </a:prstGeom>
          <a:noFill/>
          <a:ln>
            <a:noFill/>
          </a:ln>
        </p:spPr>
      </p:pic>
      <p:sp>
        <p:nvSpPr>
          <p:cNvPr id="42" name="Google Shape;42;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pic>
        <p:nvPicPr>
          <p:cNvPr id="44" name="Google Shape;44;p18"/>
          <p:cNvPicPr preferRelativeResize="0"/>
          <p:nvPr/>
        </p:nvPicPr>
        <p:blipFill rotWithShape="1">
          <a:blip r:embed="rId2">
            <a:alphaModFix/>
          </a:blip>
          <a:srcRect/>
          <a:stretch/>
        </p:blipFill>
        <p:spPr>
          <a:xfrm>
            <a:off x="-6350" y="0"/>
            <a:ext cx="12192000" cy="6858000"/>
          </a:xfrm>
          <a:prstGeom prst="rect">
            <a:avLst/>
          </a:prstGeom>
          <a:noFill/>
          <a:ln>
            <a:noFill/>
          </a:ln>
        </p:spPr>
      </p:pic>
      <p:pic>
        <p:nvPicPr>
          <p:cNvPr id="45" name="Google Shape;45;p18"/>
          <p:cNvPicPr preferRelativeResize="0"/>
          <p:nvPr/>
        </p:nvPicPr>
        <p:blipFill rotWithShape="1">
          <a:blip r:embed="rId3">
            <a:alphaModFix/>
          </a:blip>
          <a:srcRect/>
          <a:stretch/>
        </p:blipFill>
        <p:spPr>
          <a:xfrm>
            <a:off x="10711512" y="330213"/>
            <a:ext cx="1284576" cy="637759"/>
          </a:xfrm>
          <a:prstGeom prst="rect">
            <a:avLst/>
          </a:prstGeom>
          <a:noFill/>
          <a:ln>
            <a:noFill/>
          </a:ln>
        </p:spPr>
      </p:pic>
      <p:sp>
        <p:nvSpPr>
          <p:cNvPr id="46" name="Google Shape;46;p1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8" name="Google Shape;4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8"/>
          <p:cNvSpPr/>
          <p:nvPr/>
        </p:nvSpPr>
        <p:spPr>
          <a:xfrm>
            <a:off x="838200" y="6338919"/>
            <a:ext cx="2743200" cy="38255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 name="Google Shape;50;p18"/>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51" name="Google Shape;51;p18"/>
          <p:cNvPicPr preferRelativeResize="0"/>
          <p:nvPr/>
        </p:nvPicPr>
        <p:blipFill rotWithShape="1">
          <a:blip r:embed="rId4">
            <a:alphaModFix/>
          </a:blip>
          <a:srcRect/>
          <a:stretch/>
        </p:blipFill>
        <p:spPr>
          <a:xfrm>
            <a:off x="93317" y="0"/>
            <a:ext cx="1489765" cy="1386637"/>
          </a:xfrm>
          <a:prstGeom prst="rect">
            <a:avLst/>
          </a:prstGeom>
          <a:noFill/>
          <a:ln>
            <a:noFill/>
          </a:ln>
        </p:spPr>
      </p:pic>
      <p:sp>
        <p:nvSpPr>
          <p:cNvPr id="52" name="Google Shape;52;p18"/>
          <p:cNvSpPr/>
          <p:nvPr/>
        </p:nvSpPr>
        <p:spPr>
          <a:xfrm>
            <a:off x="10933155"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sp>
      <p:sp>
        <p:nvSpPr>
          <p:cNvPr id="53" name="Google Shape;5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4"/>
        <p:cNvGrpSpPr/>
        <p:nvPr/>
      </p:nvGrpSpPr>
      <p:grpSpPr>
        <a:xfrm>
          <a:off x="0" y="0"/>
          <a:ext cx="0" cy="0"/>
          <a:chOff x="0" y="0"/>
          <a:chExt cx="0" cy="0"/>
        </a:xfrm>
      </p:grpSpPr>
      <p:sp>
        <p:nvSpPr>
          <p:cNvPr id="55" name="Google Shape;55;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1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9"/>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1"/>
        <p:cNvGrpSpPr/>
        <p:nvPr/>
      </p:nvGrpSpPr>
      <p:grpSpPr>
        <a:xfrm>
          <a:off x="0" y="0"/>
          <a:ext cx="0" cy="0"/>
          <a:chOff x="0" y="0"/>
          <a:chExt cx="0" cy="0"/>
        </a:xfrm>
      </p:grpSpPr>
      <p:sp>
        <p:nvSpPr>
          <p:cNvPr id="62" name="Google Shape;62;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4" name="Google Shape;64;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6" name="Google Shape;66;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0"/>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2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3" name="Google Shape;73;p2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4" name="Google Shape;7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1"/>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7"/>
        <p:cNvGrpSpPr/>
        <p:nvPr/>
      </p:nvGrpSpPr>
      <p:grpSpPr>
        <a:xfrm>
          <a:off x="0" y="0"/>
          <a:ext cx="0" cy="0"/>
          <a:chOff x="0" y="0"/>
          <a:chExt cx="0" cy="0"/>
        </a:xfrm>
      </p:grpSpPr>
      <p:sp>
        <p:nvSpPr>
          <p:cNvPr id="78" name="Google Shape;78;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22"/>
          <p:cNvSpPr>
            <a:spLocks noGrp="1"/>
          </p:cNvSpPr>
          <p:nvPr>
            <p:ph type="pic" idx="2"/>
          </p:nvPr>
        </p:nvSpPr>
        <p:spPr>
          <a:xfrm>
            <a:off x="5183188" y="987425"/>
            <a:ext cx="6172200" cy="4873625"/>
          </a:xfrm>
          <a:prstGeom prst="rect">
            <a:avLst/>
          </a:prstGeom>
          <a:noFill/>
          <a:ln>
            <a:noFill/>
          </a:ln>
        </p:spPr>
      </p:sp>
      <p:sp>
        <p:nvSpPr>
          <p:cNvPr id="80" name="Google Shape;80;p2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1" name="Google Shape;8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2"/>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4"/>
        <p:cNvGrpSpPr/>
        <p:nvPr/>
      </p:nvGrpSpPr>
      <p:grpSpPr>
        <a:xfrm>
          <a:off x="0" y="0"/>
          <a:ext cx="0" cy="0"/>
          <a:chOff x="0" y="0"/>
          <a:chExt cx="0" cy="0"/>
        </a:xfrm>
      </p:grpSpPr>
      <p:sp>
        <p:nvSpPr>
          <p:cNvPr id="85" name="Google Shape;85;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2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2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0"/>
        <p:cNvGrpSpPr/>
        <p:nvPr/>
      </p:nvGrpSpPr>
      <p:grpSpPr>
        <a:xfrm>
          <a:off x="0" y="0"/>
          <a:ext cx="0" cy="0"/>
          <a:chOff x="0" y="0"/>
          <a:chExt cx="0" cy="0"/>
        </a:xfrm>
      </p:grpSpPr>
      <p:sp>
        <p:nvSpPr>
          <p:cNvPr id="91" name="Google Shape;91;p2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2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96"/>
        <p:cNvGrpSpPr/>
        <p:nvPr/>
      </p:nvGrpSpPr>
      <p:grpSpPr>
        <a:xfrm>
          <a:off x="0" y="0"/>
          <a:ext cx="0" cy="0"/>
          <a:chOff x="0" y="0"/>
          <a:chExt cx="0" cy="0"/>
        </a:xfrm>
      </p:grpSpPr>
      <p:sp>
        <p:nvSpPr>
          <p:cNvPr id="97" name="Google Shape;97;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25"/>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3"/>
          <p:cNvPicPr preferRelativeResize="0"/>
          <p:nvPr/>
        </p:nvPicPr>
        <p:blipFill rotWithShape="1">
          <a:blip r:embed="rId12">
            <a:alphaModFix/>
          </a:blip>
          <a:srcRect/>
          <a:stretch/>
        </p:blipFill>
        <p:spPr>
          <a:xfrm>
            <a:off x="0" y="0"/>
            <a:ext cx="12192000" cy="6858000"/>
          </a:xfrm>
          <a:prstGeom prst="rect">
            <a:avLst/>
          </a:prstGeom>
          <a:noFill/>
          <a:ln>
            <a:noFill/>
          </a:ln>
        </p:spPr>
      </p:pic>
      <p:pic>
        <p:nvPicPr>
          <p:cNvPr id="11" name="Google Shape;11;p13"/>
          <p:cNvPicPr preferRelativeResize="0"/>
          <p:nvPr/>
        </p:nvPicPr>
        <p:blipFill rotWithShape="1">
          <a:blip r:embed="rId13">
            <a:alphaModFix/>
          </a:blip>
          <a:srcRect/>
          <a:stretch/>
        </p:blipFill>
        <p:spPr>
          <a:xfrm>
            <a:off x="10711512" y="330213"/>
            <a:ext cx="1284576" cy="637759"/>
          </a:xfrm>
          <a:prstGeom prst="rect">
            <a:avLst/>
          </a:prstGeom>
          <a:noFill/>
          <a:ln>
            <a:noFill/>
          </a:ln>
        </p:spPr>
      </p:pic>
      <p:sp>
        <p:nvSpPr>
          <p:cNvPr id="12" name="Google Shape;12;p13"/>
          <p:cNvSpPr/>
          <p:nvPr/>
        </p:nvSpPr>
        <p:spPr>
          <a:xfrm>
            <a:off x="838200" y="6338919"/>
            <a:ext cx="2743200" cy="38255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a:lstStyle/>
          <a:p>
            <a:endParaRPr lang="en-US"/>
          </a:p>
        </p:txBody>
      </p:sp>
      <p:pic>
        <p:nvPicPr>
          <p:cNvPr id="13" name="Google Shape;13;p13"/>
          <p:cNvPicPr preferRelativeResize="0"/>
          <p:nvPr/>
        </p:nvPicPr>
        <p:blipFill rotWithShape="1">
          <a:blip r:embed="rId14">
            <a:alphaModFix/>
          </a:blip>
          <a:srcRect/>
          <a:stretch/>
        </p:blipFill>
        <p:spPr>
          <a:xfrm>
            <a:off x="93317" y="0"/>
            <a:ext cx="1489765" cy="1386637"/>
          </a:xfrm>
          <a:prstGeom prst="rect">
            <a:avLst/>
          </a:prstGeom>
          <a:noFill/>
          <a:ln>
            <a:noFill/>
          </a:ln>
        </p:spPr>
      </p:pic>
      <p:sp>
        <p:nvSpPr>
          <p:cNvPr id="14" name="Google Shape;14;p13"/>
          <p:cNvSpPr/>
          <p:nvPr/>
        </p:nvSpPr>
        <p:spPr>
          <a:xfrm>
            <a:off x="10974189"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a:lstStyle/>
          <a:p>
            <a:endParaRPr lang="en-US"/>
          </a:p>
        </p:txBody>
      </p:sp>
      <p:sp>
        <p:nvSpPr>
          <p:cNvPr id="15" name="Google Shape;15;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 name="Google Shape;16;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 name="Google Shape;1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6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p1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Calibri"/>
                <a:ea typeface="Calibri"/>
                <a:cs typeface="Calibri"/>
                <a:sym typeface="Calibri"/>
              </a:defRPr>
            </a:lvl1pPr>
            <a:lvl2pPr marL="0" marR="0" lvl="1" indent="0" algn="r" rtl="0">
              <a:spcBef>
                <a:spcPts val="0"/>
              </a:spcBef>
              <a:buNone/>
              <a:defRPr sz="1200" b="0" i="0" u="none" strike="noStrike" cap="none">
                <a:solidFill>
                  <a:schemeClr val="lt1"/>
                </a:solidFill>
                <a:latin typeface="Calibri"/>
                <a:ea typeface="Calibri"/>
                <a:cs typeface="Calibri"/>
                <a:sym typeface="Calibri"/>
              </a:defRPr>
            </a:lvl2pPr>
            <a:lvl3pPr marL="0" marR="0" lvl="2" indent="0" algn="r" rtl="0">
              <a:spcBef>
                <a:spcPts val="0"/>
              </a:spcBef>
              <a:buNone/>
              <a:defRPr sz="1200" b="0" i="0" u="none" strike="noStrike" cap="none">
                <a:solidFill>
                  <a:schemeClr val="lt1"/>
                </a:solidFill>
                <a:latin typeface="Calibri"/>
                <a:ea typeface="Calibri"/>
                <a:cs typeface="Calibri"/>
                <a:sym typeface="Calibri"/>
              </a:defRPr>
            </a:lvl3pPr>
            <a:lvl4pPr marL="0" marR="0" lvl="3" indent="0" algn="r" rtl="0">
              <a:spcBef>
                <a:spcPts val="0"/>
              </a:spcBef>
              <a:buNone/>
              <a:defRPr sz="1200" b="0" i="0" u="none" strike="noStrike" cap="none">
                <a:solidFill>
                  <a:schemeClr val="lt1"/>
                </a:solidFill>
                <a:latin typeface="Calibri"/>
                <a:ea typeface="Calibri"/>
                <a:cs typeface="Calibri"/>
                <a:sym typeface="Calibri"/>
              </a:defRPr>
            </a:lvl4pPr>
            <a:lvl5pPr marL="0" marR="0" lvl="4" indent="0" algn="r" rtl="0">
              <a:spcBef>
                <a:spcPts val="0"/>
              </a:spcBef>
              <a:buNone/>
              <a:defRPr sz="1200" b="0" i="0" u="none" strike="noStrike" cap="none">
                <a:solidFill>
                  <a:schemeClr val="lt1"/>
                </a:solidFill>
                <a:latin typeface="Calibri"/>
                <a:ea typeface="Calibri"/>
                <a:cs typeface="Calibri"/>
                <a:sym typeface="Calibri"/>
              </a:defRPr>
            </a:lvl5pPr>
            <a:lvl6pPr marL="0" marR="0" lvl="5" indent="0" algn="r" rtl="0">
              <a:spcBef>
                <a:spcPts val="0"/>
              </a:spcBef>
              <a:buNone/>
              <a:defRPr sz="1200" b="0" i="0" u="none" strike="noStrike" cap="none">
                <a:solidFill>
                  <a:schemeClr val="lt1"/>
                </a:solidFill>
                <a:latin typeface="Calibri"/>
                <a:ea typeface="Calibri"/>
                <a:cs typeface="Calibri"/>
                <a:sym typeface="Calibri"/>
              </a:defRPr>
            </a:lvl6pPr>
            <a:lvl7pPr marL="0" marR="0" lvl="6" indent="0" algn="r" rtl="0">
              <a:spcBef>
                <a:spcPts val="0"/>
              </a:spcBef>
              <a:buNone/>
              <a:defRPr sz="1200" b="0" i="0" u="none" strike="noStrike" cap="none">
                <a:solidFill>
                  <a:schemeClr val="lt1"/>
                </a:solidFill>
                <a:latin typeface="Calibri"/>
                <a:ea typeface="Calibri"/>
                <a:cs typeface="Calibri"/>
                <a:sym typeface="Calibri"/>
              </a:defRPr>
            </a:lvl7pPr>
            <a:lvl8pPr marL="0" marR="0" lvl="7" indent="0" algn="r" rtl="0">
              <a:spcBef>
                <a:spcPts val="0"/>
              </a:spcBef>
              <a:buNone/>
              <a:defRPr sz="1200" b="0" i="0" u="none" strike="noStrike" cap="none">
                <a:solidFill>
                  <a:schemeClr val="lt1"/>
                </a:solidFill>
                <a:latin typeface="Calibri"/>
                <a:ea typeface="Calibri"/>
                <a:cs typeface="Calibri"/>
                <a:sym typeface="Calibri"/>
              </a:defRPr>
            </a:lvl8pPr>
            <a:lvl9pPr marL="0" marR="0" lvl="8" indent="0" algn="r" rtl="0">
              <a:spcBef>
                <a:spcPts val="0"/>
              </a:spcBef>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
          <p:cNvSpPr txBox="1">
            <a:spLocks noGrp="1"/>
          </p:cNvSpPr>
          <p:nvPr>
            <p:ph type="dt" idx="10"/>
          </p:nvPr>
        </p:nvSpPr>
        <p:spPr>
          <a:xfrm>
            <a:off x="838200" y="6356350"/>
            <a:ext cx="2743200" cy="365125"/>
          </a:xfrm>
          <a:noFill/>
          <a:ln>
            <a:noFill/>
          </a:ln>
        </p:spPr>
        <p:txBody>
          <a:bodyPr spcFirstLastPara="1" wrap="square" lIns="91425" tIns="45700" rIns="91425" bIns="45700" anchor="ctr" anchorCtr="0">
            <a:noAutofit/>
          </a:bodyPr>
          <a:lstStyle/>
          <a:p>
            <a:r>
              <a:rPr lang="en-US" dirty="0"/>
              <a:t>11/30/25</a:t>
            </a:r>
          </a:p>
        </p:txBody>
      </p:sp>
      <p:sp>
        <p:nvSpPr>
          <p:cNvPr id="107" name="Google Shape;107;p1"/>
          <p:cNvSpPr txBox="1">
            <a:spLocks noGrp="1"/>
          </p:cNvSpPr>
          <p:nvPr>
            <p:ph type="sldNum" idx="12"/>
          </p:nvPr>
        </p:nvSpPr>
        <p:spPr>
          <a:xfrm>
            <a:off x="8610600" y="6356350"/>
            <a:ext cx="2743200" cy="365125"/>
          </a:xfrm>
          <a:noFill/>
          <a:ln>
            <a:noFill/>
          </a:ln>
        </p:spPr>
        <p:txBody>
          <a:bodyPr spcFirstLastPara="1" wrap="square" lIns="91425" tIns="45700" rIns="91425" bIns="45700" anchor="ctr" anchorCtr="0">
            <a:noAutofit/>
          </a:bodyPr>
          <a:lstStyle/>
          <a:p>
            <a:pPr lvl="0"/>
            <a:fld id="{00000000-1234-1234-1234-123412341234}" type="slidenum">
              <a:rPr lang="en-US"/>
              <a:pPr lvl="0"/>
              <a:t>1</a:t>
            </a:fld>
            <a:endParaRPr lang="en-US"/>
          </a:p>
        </p:txBody>
      </p:sp>
      <p:pic>
        <p:nvPicPr>
          <p:cNvPr id="110" name="Google Shape;110;p1"/>
          <p:cNvPicPr preferRelativeResize="0"/>
          <p:nvPr/>
        </p:nvPicPr>
        <p:blipFill>
          <a:blip r:embed="rId3"/>
          <a:srcRect/>
          <a:stretch/>
        </p:blipFill>
        <p:spPr>
          <a:xfrm>
            <a:off x="9010943" y="6291124"/>
            <a:ext cx="1362250" cy="365125"/>
          </a:xfrm>
          <a:prstGeom prst="rect">
            <a:avLst/>
          </a:prstGeom>
          <a:noFill/>
          <a:ln>
            <a:noFill/>
          </a:ln>
        </p:spPr>
      </p:pic>
      <p:sp>
        <p:nvSpPr>
          <p:cNvPr id="6" name="Google Shape;109;p1">
            <a:extLst>
              <a:ext uri="{FF2B5EF4-FFF2-40B4-BE49-F238E27FC236}">
                <a16:creationId xmlns:a16="http://schemas.microsoft.com/office/drawing/2014/main" id="{452CA4C1-E17D-6195-6BD4-803A21BDB3CF}"/>
              </a:ext>
            </a:extLst>
          </p:cNvPr>
          <p:cNvSpPr txBox="1"/>
          <p:nvPr/>
        </p:nvSpPr>
        <p:spPr>
          <a:xfrm>
            <a:off x="727669" y="2999845"/>
            <a:ext cx="10382435" cy="4169115"/>
          </a:xfrm>
          <a:prstGeom prst="rect">
            <a:avLst/>
          </a:prstGeom>
          <a:noFill/>
          <a:ln>
            <a:noFill/>
          </a:ln>
        </p:spPr>
        <p:txBody>
          <a:bodyPr spcFirstLastPara="1" wrap="square" lIns="91425" tIns="45700" rIns="91425" bIns="45700" anchor="t" anchorCtr="0">
            <a:noAutofit/>
          </a:bodyPr>
          <a:lstStyle/>
          <a:p>
            <a:pPr lvl="0" algn="ctr">
              <a:lnSpc>
                <a:spcPct val="90000"/>
              </a:lnSpc>
              <a:buClr>
                <a:srgbClr val="0D0D0D"/>
              </a:buClr>
              <a:buSzPts val="2000"/>
            </a:pPr>
            <a:r>
              <a:rPr lang="en-US" sz="4000" b="1" dirty="0"/>
              <a:t>AI-Powered Creative Writing Assistant</a:t>
            </a:r>
          </a:p>
          <a:p>
            <a:pPr lvl="0" algn="ctr">
              <a:lnSpc>
                <a:spcPct val="90000"/>
              </a:lnSpc>
              <a:buClr>
                <a:srgbClr val="0D0D0D"/>
              </a:buClr>
              <a:buSzPts val="2000"/>
            </a:pPr>
            <a:endParaRPr lang="en-US" sz="3200" b="1"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5A20E9E-A821-9296-9BC4-31C6D9CA68FC}"/>
            </a:ext>
          </a:extLst>
        </p:cNvPr>
        <p:cNvGrpSpPr/>
        <p:nvPr/>
      </p:nvGrpSpPr>
      <p:grpSpPr>
        <a:xfrm>
          <a:off x="0" y="0"/>
          <a:ext cx="0" cy="0"/>
          <a:chOff x="0" y="0"/>
          <a:chExt cx="0" cy="0"/>
        </a:xfrm>
      </p:grpSpPr>
      <p:sp>
        <p:nvSpPr>
          <p:cNvPr id="105" name="Google Shape;105;p1">
            <a:extLst>
              <a:ext uri="{FF2B5EF4-FFF2-40B4-BE49-F238E27FC236}">
                <a16:creationId xmlns:a16="http://schemas.microsoft.com/office/drawing/2014/main" id="{0C66CB5D-710A-DB8A-47A3-FE3DE063897C}"/>
              </a:ext>
            </a:extLst>
          </p:cNvPr>
          <p:cNvSpPr txBox="1">
            <a:spLocks noGrp="1"/>
          </p:cNvSpPr>
          <p:nvPr>
            <p:ph type="dt" idx="10"/>
          </p:nvPr>
        </p:nvSpPr>
        <p:spPr>
          <a:xfrm>
            <a:off x="838200" y="6356350"/>
            <a:ext cx="2743200" cy="365125"/>
          </a:xfrm>
          <a:noFill/>
          <a:ln>
            <a:noFill/>
          </a:ln>
        </p:spPr>
        <p:txBody>
          <a:bodyPr spcFirstLastPara="1" wrap="square" lIns="91425" tIns="45700" rIns="91425" bIns="45700" anchor="ctr" anchorCtr="0">
            <a:noAutofit/>
          </a:bodyPr>
          <a:lstStyle/>
          <a:p>
            <a:r>
              <a:rPr lang="en-US" dirty="0"/>
              <a:t>11/30/25</a:t>
            </a:r>
          </a:p>
        </p:txBody>
      </p:sp>
      <p:sp>
        <p:nvSpPr>
          <p:cNvPr id="107" name="Google Shape;107;p1">
            <a:extLst>
              <a:ext uri="{FF2B5EF4-FFF2-40B4-BE49-F238E27FC236}">
                <a16:creationId xmlns:a16="http://schemas.microsoft.com/office/drawing/2014/main" id="{DBE2486E-FAEB-6BD1-F5F0-495E0CB296C7}"/>
              </a:ext>
            </a:extLst>
          </p:cNvPr>
          <p:cNvSpPr txBox="1">
            <a:spLocks noGrp="1"/>
          </p:cNvSpPr>
          <p:nvPr>
            <p:ph type="sldNum" idx="12"/>
          </p:nvPr>
        </p:nvSpPr>
        <p:spPr>
          <a:xfrm>
            <a:off x="8610600" y="6356350"/>
            <a:ext cx="2743200" cy="365125"/>
          </a:xfrm>
          <a:noFill/>
          <a:ln>
            <a:noFill/>
          </a:ln>
        </p:spPr>
        <p:txBody>
          <a:bodyPr spcFirstLastPara="1" wrap="square" lIns="91425" tIns="45700" rIns="91425" bIns="45700" anchor="ctr" anchorCtr="0">
            <a:noAutofit/>
          </a:bodyPr>
          <a:lstStyle/>
          <a:p>
            <a:pPr lvl="0"/>
            <a:fld id="{00000000-1234-1234-1234-123412341234}" type="slidenum">
              <a:rPr lang="en-US"/>
              <a:pPr lvl="0"/>
              <a:t>2</a:t>
            </a:fld>
            <a:endParaRPr lang="en-US"/>
          </a:p>
        </p:txBody>
      </p:sp>
      <p:pic>
        <p:nvPicPr>
          <p:cNvPr id="110" name="Google Shape;110;p1">
            <a:extLst>
              <a:ext uri="{FF2B5EF4-FFF2-40B4-BE49-F238E27FC236}">
                <a16:creationId xmlns:a16="http://schemas.microsoft.com/office/drawing/2014/main" id="{963B59CC-67B6-796F-0969-9491EDC15C66}"/>
              </a:ext>
            </a:extLst>
          </p:cNvPr>
          <p:cNvPicPr preferRelativeResize="0"/>
          <p:nvPr/>
        </p:nvPicPr>
        <p:blipFill>
          <a:blip r:embed="rId3"/>
          <a:srcRect/>
          <a:stretch/>
        </p:blipFill>
        <p:spPr>
          <a:xfrm>
            <a:off x="9010943" y="6291124"/>
            <a:ext cx="1362250" cy="365125"/>
          </a:xfrm>
          <a:prstGeom prst="rect">
            <a:avLst/>
          </a:prstGeom>
          <a:noFill/>
          <a:ln>
            <a:noFill/>
          </a:ln>
        </p:spPr>
      </p:pic>
      <p:sp>
        <p:nvSpPr>
          <p:cNvPr id="6" name="Google Shape;109;p1">
            <a:extLst>
              <a:ext uri="{FF2B5EF4-FFF2-40B4-BE49-F238E27FC236}">
                <a16:creationId xmlns:a16="http://schemas.microsoft.com/office/drawing/2014/main" id="{AB461F91-FCAA-CF9C-A5C5-AABF3C3E14C5}"/>
              </a:ext>
            </a:extLst>
          </p:cNvPr>
          <p:cNvSpPr txBox="1"/>
          <p:nvPr/>
        </p:nvSpPr>
        <p:spPr>
          <a:xfrm>
            <a:off x="542615" y="963440"/>
            <a:ext cx="11649386" cy="5262457"/>
          </a:xfrm>
          <a:prstGeom prst="rect">
            <a:avLst/>
          </a:prstGeom>
          <a:noFill/>
          <a:ln>
            <a:noFill/>
          </a:ln>
        </p:spPr>
        <p:txBody>
          <a:bodyPr spcFirstLastPara="1" wrap="square" lIns="91425" tIns="45700" rIns="91425" bIns="45700" anchor="t" anchorCtr="0">
            <a:noAutofit/>
          </a:bodyPr>
          <a:lstStyle/>
          <a:p>
            <a:r>
              <a:rPr lang="en-US" sz="1600" b="1" dirty="0"/>
              <a:t>Brief Description of the Problem Being Solved</a:t>
            </a:r>
          </a:p>
          <a:p>
            <a:r>
              <a:rPr lang="en-US" sz="1600" dirty="0"/>
              <a:t>Many aspiring writers struggle with generating original ideas, structuring stories, or maintaining consistent writing quality. Writer’s block, lack of inspiration, and difficulty refining drafts are common obstacles. Additionally, beginners often lack access to creative guidance or tools that help them improve their narrative skills. This creates a gap where users need an accessible, intelligent assistant that can support creativity, offer suggestions, and help them refine their writing in real time.</a:t>
            </a:r>
            <a:br>
              <a:rPr lang="en-US" sz="1600" dirty="0"/>
            </a:br>
            <a:br>
              <a:rPr lang="en-US" sz="1600" dirty="0"/>
            </a:br>
            <a:r>
              <a:rPr lang="en-US" sz="1600" b="1" dirty="0"/>
              <a:t>Overview of the Proposed Solution (High-Level Idea)</a:t>
            </a:r>
          </a:p>
          <a:p>
            <a:r>
              <a:rPr lang="en-US" sz="1600" dirty="0"/>
              <a:t>The proposed solution is an </a:t>
            </a:r>
            <a:r>
              <a:rPr lang="en-US" sz="1600" b="1" dirty="0"/>
              <a:t>AI-Powered Creative Writing Assistant</a:t>
            </a:r>
            <a:r>
              <a:rPr lang="en-US" sz="1600" dirty="0"/>
              <a:t>, built in Python using natural language processing techniques. The system allows users to input a topic or idea and receive creative prompts, story outlines, character suggestions, and writing enhancements. It interacts with users through an intuitive interface and provides real-time feedback on grammar, tone, and structure. By leveraging AI text-generation models, the assistant acts as a smart co-writer that helps users brainstorm, expand their ideas, and polish their writing.</a:t>
            </a:r>
            <a:br>
              <a:rPr lang="en-US" sz="1600" dirty="0"/>
            </a:br>
            <a:br>
              <a:rPr lang="en-US" sz="1600" dirty="0"/>
            </a:br>
            <a:r>
              <a:rPr lang="en-US" sz="1600" b="1" dirty="0"/>
              <a:t>Unique Value Proposition</a:t>
            </a:r>
          </a:p>
          <a:p>
            <a:r>
              <a:rPr lang="en-US" sz="1600" dirty="0"/>
              <a:t>What makes this project stand out is its combination of </a:t>
            </a:r>
            <a:r>
              <a:rPr lang="en-US" sz="1600" b="1" dirty="0"/>
              <a:t>creativity support</a:t>
            </a:r>
            <a:r>
              <a:rPr lang="en-US" sz="1600" dirty="0"/>
              <a:t> and </a:t>
            </a:r>
            <a:r>
              <a:rPr lang="en-US" sz="1600" b="1" dirty="0"/>
              <a:t>intelligent writing enhancement</a:t>
            </a:r>
            <a:r>
              <a:rPr lang="en-US" sz="1600" dirty="0"/>
              <a:t> in one integrated tool. Unlike typical grammar checkers or simple prompt generators, this assistant:</a:t>
            </a:r>
          </a:p>
          <a:p>
            <a:r>
              <a:rPr lang="en-US" sz="1600" dirty="0"/>
              <a:t>Offers </a:t>
            </a:r>
            <a:r>
              <a:rPr lang="en-US" sz="1600" b="1" dirty="0"/>
              <a:t>end-to-end creative support</a:t>
            </a:r>
            <a:r>
              <a:rPr lang="en-US" sz="1600" dirty="0"/>
              <a:t> — from idea generation to final draft refinement.</a:t>
            </a:r>
          </a:p>
          <a:p>
            <a:r>
              <a:rPr lang="en-US" sz="1600" dirty="0"/>
              <a:t>Provides </a:t>
            </a:r>
            <a:r>
              <a:rPr lang="en-US" sz="1600" b="1" dirty="0"/>
              <a:t>customizable writing outputs</a:t>
            </a:r>
            <a:r>
              <a:rPr lang="en-US" sz="1600" dirty="0"/>
              <a:t>, tailored to genre, tone, and creativity level.</a:t>
            </a:r>
          </a:p>
          <a:p>
            <a:r>
              <a:rPr lang="en-US" sz="1600" dirty="0"/>
              <a:t>Helps users both </a:t>
            </a:r>
            <a:r>
              <a:rPr lang="en-US" sz="1600" b="1" dirty="0"/>
              <a:t>learn</a:t>
            </a:r>
            <a:r>
              <a:rPr lang="en-US" sz="1600" dirty="0"/>
              <a:t> and </a:t>
            </a:r>
            <a:r>
              <a:rPr lang="en-US" sz="1600" b="1" dirty="0"/>
              <a:t>create</a:t>
            </a:r>
            <a:r>
              <a:rPr lang="en-US" sz="1600" dirty="0"/>
              <a:t>, improving their writing skills while assisting in real-time.</a:t>
            </a:r>
          </a:p>
          <a:p>
            <a:r>
              <a:rPr lang="en-US" sz="1600" dirty="0"/>
              <a:t>Is developed in Python, making it lightweight, flexible, and easy to extend for educational or research use.</a:t>
            </a:r>
          </a:p>
          <a:p>
            <a:r>
              <a:rPr lang="en-US" sz="1600" dirty="0"/>
              <a:t>This unique blend of creativity, personalization, and AI-driven assistance makes the project especially valuable for students, new writers, and anyone seeking a smart tool to enhance their storytelling abilities.</a:t>
            </a:r>
          </a:p>
          <a:p>
            <a:endParaRPr lang="en-US" sz="1600" dirty="0"/>
          </a:p>
          <a:p>
            <a:endParaRPr lang="en-US" sz="1600" dirty="0"/>
          </a:p>
          <a:p>
            <a:pPr lvl="0" algn="ctr">
              <a:lnSpc>
                <a:spcPct val="90000"/>
              </a:lnSpc>
              <a:buClr>
                <a:srgbClr val="0D0D0D"/>
              </a:buClr>
              <a:buSzPts val="2000"/>
            </a:pPr>
            <a:endParaRPr sz="1600" b="1" dirty="0">
              <a:solidFill>
                <a:schemeClr val="dk1"/>
              </a:solidFill>
              <a:latin typeface="Calibri"/>
              <a:cs typeface="Calibri"/>
              <a:sym typeface="Calibri"/>
            </a:endParaRPr>
          </a:p>
        </p:txBody>
      </p:sp>
    </p:spTree>
    <p:extLst>
      <p:ext uri="{BB962C8B-B14F-4D97-AF65-F5344CB8AC3E}">
        <p14:creationId xmlns:p14="http://schemas.microsoft.com/office/powerpoint/2010/main" val="807816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9B860A2-8FE6-30B6-B699-D6963959339B}"/>
            </a:ext>
          </a:extLst>
        </p:cNvPr>
        <p:cNvGrpSpPr/>
        <p:nvPr/>
      </p:nvGrpSpPr>
      <p:grpSpPr>
        <a:xfrm>
          <a:off x="0" y="0"/>
          <a:ext cx="0" cy="0"/>
          <a:chOff x="0" y="0"/>
          <a:chExt cx="0" cy="0"/>
        </a:xfrm>
      </p:grpSpPr>
      <p:sp>
        <p:nvSpPr>
          <p:cNvPr id="105" name="Google Shape;105;p1">
            <a:extLst>
              <a:ext uri="{FF2B5EF4-FFF2-40B4-BE49-F238E27FC236}">
                <a16:creationId xmlns:a16="http://schemas.microsoft.com/office/drawing/2014/main" id="{904508BA-FA80-F43F-0899-3F21D4127511}"/>
              </a:ext>
            </a:extLst>
          </p:cNvPr>
          <p:cNvSpPr txBox="1">
            <a:spLocks noGrp="1"/>
          </p:cNvSpPr>
          <p:nvPr>
            <p:ph type="dt" idx="10"/>
          </p:nvPr>
        </p:nvSpPr>
        <p:spPr>
          <a:xfrm>
            <a:off x="838200" y="6356350"/>
            <a:ext cx="2743200" cy="365125"/>
          </a:xfrm>
          <a:noFill/>
          <a:ln>
            <a:noFill/>
          </a:ln>
        </p:spPr>
        <p:txBody>
          <a:bodyPr spcFirstLastPara="1" wrap="square" lIns="91425" tIns="45700" rIns="91425" bIns="45700" anchor="ctr" anchorCtr="0">
            <a:noAutofit/>
          </a:bodyPr>
          <a:lstStyle/>
          <a:p>
            <a:r>
              <a:rPr lang="en-US" dirty="0"/>
              <a:t>11/30/25</a:t>
            </a:r>
          </a:p>
        </p:txBody>
      </p:sp>
      <p:sp>
        <p:nvSpPr>
          <p:cNvPr id="107" name="Google Shape;107;p1">
            <a:extLst>
              <a:ext uri="{FF2B5EF4-FFF2-40B4-BE49-F238E27FC236}">
                <a16:creationId xmlns:a16="http://schemas.microsoft.com/office/drawing/2014/main" id="{811D7595-E865-A5B9-12E6-E41E3E90F8BC}"/>
              </a:ext>
            </a:extLst>
          </p:cNvPr>
          <p:cNvSpPr txBox="1">
            <a:spLocks noGrp="1"/>
          </p:cNvSpPr>
          <p:nvPr>
            <p:ph type="sldNum" idx="12"/>
          </p:nvPr>
        </p:nvSpPr>
        <p:spPr>
          <a:xfrm>
            <a:off x="8610600" y="6356350"/>
            <a:ext cx="2743200" cy="365125"/>
          </a:xfrm>
          <a:noFill/>
          <a:ln>
            <a:noFill/>
          </a:ln>
        </p:spPr>
        <p:txBody>
          <a:bodyPr spcFirstLastPara="1" wrap="square" lIns="91425" tIns="45700" rIns="91425" bIns="45700" anchor="ctr" anchorCtr="0">
            <a:noAutofit/>
          </a:bodyPr>
          <a:lstStyle/>
          <a:p>
            <a:pPr lvl="0"/>
            <a:fld id="{00000000-1234-1234-1234-123412341234}" type="slidenum">
              <a:rPr lang="en-US"/>
              <a:pPr lvl="0"/>
              <a:t>3</a:t>
            </a:fld>
            <a:endParaRPr lang="en-US"/>
          </a:p>
        </p:txBody>
      </p:sp>
      <p:pic>
        <p:nvPicPr>
          <p:cNvPr id="110" name="Google Shape;110;p1">
            <a:extLst>
              <a:ext uri="{FF2B5EF4-FFF2-40B4-BE49-F238E27FC236}">
                <a16:creationId xmlns:a16="http://schemas.microsoft.com/office/drawing/2014/main" id="{032D6D1C-2172-221C-82CC-579A957DEF5E}"/>
              </a:ext>
            </a:extLst>
          </p:cNvPr>
          <p:cNvPicPr preferRelativeResize="0"/>
          <p:nvPr/>
        </p:nvPicPr>
        <p:blipFill>
          <a:blip r:embed="rId3"/>
          <a:srcRect/>
          <a:stretch/>
        </p:blipFill>
        <p:spPr>
          <a:xfrm>
            <a:off x="9010943" y="6291124"/>
            <a:ext cx="1362250" cy="365125"/>
          </a:xfrm>
          <a:prstGeom prst="rect">
            <a:avLst/>
          </a:prstGeom>
          <a:noFill/>
          <a:ln>
            <a:noFill/>
          </a:ln>
        </p:spPr>
      </p:pic>
      <p:sp>
        <p:nvSpPr>
          <p:cNvPr id="6" name="Google Shape;109;p1">
            <a:extLst>
              <a:ext uri="{FF2B5EF4-FFF2-40B4-BE49-F238E27FC236}">
                <a16:creationId xmlns:a16="http://schemas.microsoft.com/office/drawing/2014/main" id="{F98E186D-B37F-B80B-570D-A462B681D454}"/>
              </a:ext>
            </a:extLst>
          </p:cNvPr>
          <p:cNvSpPr txBox="1"/>
          <p:nvPr/>
        </p:nvSpPr>
        <p:spPr>
          <a:xfrm>
            <a:off x="341649" y="1066273"/>
            <a:ext cx="11666135" cy="5260106"/>
          </a:xfrm>
          <a:prstGeom prst="rect">
            <a:avLst/>
          </a:prstGeom>
          <a:noFill/>
          <a:ln>
            <a:noFill/>
          </a:ln>
        </p:spPr>
        <p:txBody>
          <a:bodyPr spcFirstLastPara="1" wrap="square" lIns="91425" tIns="45700" rIns="91425" bIns="45700" anchor="t" anchorCtr="0">
            <a:noAutofit/>
          </a:bodyPr>
          <a:lstStyle/>
          <a:p>
            <a:pPr lvl="0">
              <a:lnSpc>
                <a:spcPct val="90000"/>
              </a:lnSpc>
              <a:buClr>
                <a:srgbClr val="0D0D0D"/>
              </a:buClr>
              <a:buSzPts val="2000"/>
            </a:pPr>
            <a:r>
              <a:rPr lang="en-US" sz="1600" b="1" dirty="0">
                <a:solidFill>
                  <a:srgbClr val="0D0D0D"/>
                </a:solidFill>
              </a:rPr>
              <a:t>key user interfaces</a:t>
            </a:r>
            <a:r>
              <a:rPr lang="ar-EG" sz="1600" b="1" dirty="0">
                <a:solidFill>
                  <a:srgbClr val="0D0D0D"/>
                </a:solidFill>
              </a:rPr>
              <a:t>:</a:t>
            </a:r>
            <a:endParaRPr lang="en-US" sz="1600" b="1" dirty="0">
              <a:solidFill>
                <a:srgbClr val="0D0D0D"/>
              </a:solidFill>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sz="1600" b="1" dirty="0">
              <a:solidFill>
                <a:schemeClr val="dk1"/>
              </a:solidFill>
              <a:latin typeface="Calibri"/>
              <a:cs typeface="Calibri"/>
              <a:sym typeface="Calibri"/>
            </a:endParaRPr>
          </a:p>
        </p:txBody>
      </p:sp>
      <p:pic>
        <p:nvPicPr>
          <p:cNvPr id="3" name="Picture 2">
            <a:extLst>
              <a:ext uri="{FF2B5EF4-FFF2-40B4-BE49-F238E27FC236}">
                <a16:creationId xmlns:a16="http://schemas.microsoft.com/office/drawing/2014/main" id="{BB72379E-2513-7C6C-C266-224DDC8F00BE}"/>
              </a:ext>
            </a:extLst>
          </p:cNvPr>
          <p:cNvPicPr>
            <a:picLocks noChangeAspect="1"/>
          </p:cNvPicPr>
          <p:nvPr/>
        </p:nvPicPr>
        <p:blipFill>
          <a:blip r:embed="rId4"/>
          <a:stretch>
            <a:fillRect/>
          </a:stretch>
        </p:blipFill>
        <p:spPr>
          <a:xfrm>
            <a:off x="1816268" y="1293337"/>
            <a:ext cx="7460816" cy="3268610"/>
          </a:xfrm>
          <a:prstGeom prst="rect">
            <a:avLst/>
          </a:prstGeom>
        </p:spPr>
      </p:pic>
      <p:pic>
        <p:nvPicPr>
          <p:cNvPr id="5" name="Picture 4">
            <a:extLst>
              <a:ext uri="{FF2B5EF4-FFF2-40B4-BE49-F238E27FC236}">
                <a16:creationId xmlns:a16="http://schemas.microsoft.com/office/drawing/2014/main" id="{AB5655C4-8F28-AD90-9270-6C39B8E77AED}"/>
              </a:ext>
            </a:extLst>
          </p:cNvPr>
          <p:cNvPicPr>
            <a:picLocks noChangeAspect="1"/>
          </p:cNvPicPr>
          <p:nvPr/>
        </p:nvPicPr>
        <p:blipFill>
          <a:blip r:embed="rId5"/>
          <a:stretch>
            <a:fillRect/>
          </a:stretch>
        </p:blipFill>
        <p:spPr>
          <a:xfrm>
            <a:off x="2131761" y="4023653"/>
            <a:ext cx="7286560" cy="2299273"/>
          </a:xfrm>
          <a:prstGeom prst="rect">
            <a:avLst/>
          </a:prstGeom>
        </p:spPr>
      </p:pic>
    </p:spTree>
    <p:extLst>
      <p:ext uri="{BB962C8B-B14F-4D97-AF65-F5344CB8AC3E}">
        <p14:creationId xmlns:p14="http://schemas.microsoft.com/office/powerpoint/2010/main" val="2876220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A8033A8-EE57-5E87-6DD2-877655EF46E9}"/>
            </a:ext>
          </a:extLst>
        </p:cNvPr>
        <p:cNvGrpSpPr/>
        <p:nvPr/>
      </p:nvGrpSpPr>
      <p:grpSpPr>
        <a:xfrm>
          <a:off x="0" y="0"/>
          <a:ext cx="0" cy="0"/>
          <a:chOff x="0" y="0"/>
          <a:chExt cx="0" cy="0"/>
        </a:xfrm>
      </p:grpSpPr>
      <p:pic>
        <p:nvPicPr>
          <p:cNvPr id="8" name="Picture 7" descr="A diagram of a software system&#10;&#10;AI-generated content may be incorrect.">
            <a:extLst>
              <a:ext uri="{FF2B5EF4-FFF2-40B4-BE49-F238E27FC236}">
                <a16:creationId xmlns:a16="http://schemas.microsoft.com/office/drawing/2014/main" id="{832D5BE2-573A-B172-68A2-C763512E86B2}"/>
              </a:ext>
            </a:extLst>
          </p:cNvPr>
          <p:cNvPicPr>
            <a:picLocks noChangeAspect="1"/>
          </p:cNvPicPr>
          <p:nvPr/>
        </p:nvPicPr>
        <p:blipFill>
          <a:blip r:embed="rId3"/>
          <a:stretch>
            <a:fillRect/>
          </a:stretch>
        </p:blipFill>
        <p:spPr>
          <a:xfrm>
            <a:off x="7003701" y="2994799"/>
            <a:ext cx="4846650" cy="3231100"/>
          </a:xfrm>
          <a:prstGeom prst="rect">
            <a:avLst/>
          </a:prstGeom>
        </p:spPr>
      </p:pic>
      <p:sp>
        <p:nvSpPr>
          <p:cNvPr id="105" name="Google Shape;105;p1">
            <a:extLst>
              <a:ext uri="{FF2B5EF4-FFF2-40B4-BE49-F238E27FC236}">
                <a16:creationId xmlns:a16="http://schemas.microsoft.com/office/drawing/2014/main" id="{DEA4B869-DF09-00CD-EF10-C142F41D6D1B}"/>
              </a:ext>
            </a:extLst>
          </p:cNvPr>
          <p:cNvSpPr txBox="1">
            <a:spLocks noGrp="1"/>
          </p:cNvSpPr>
          <p:nvPr>
            <p:ph type="dt" idx="10"/>
          </p:nvPr>
        </p:nvSpPr>
        <p:spPr>
          <a:xfrm>
            <a:off x="838200" y="6356350"/>
            <a:ext cx="2743200" cy="365125"/>
          </a:xfrm>
          <a:noFill/>
          <a:ln>
            <a:noFill/>
          </a:ln>
        </p:spPr>
        <p:txBody>
          <a:bodyPr spcFirstLastPara="1" wrap="square" lIns="91425" tIns="45700" rIns="91425" bIns="45700" anchor="ctr" anchorCtr="0">
            <a:noAutofit/>
          </a:bodyPr>
          <a:lstStyle/>
          <a:p>
            <a:r>
              <a:rPr lang="en-US" dirty="0"/>
              <a:t>11/30/25</a:t>
            </a:r>
          </a:p>
        </p:txBody>
      </p:sp>
      <p:sp>
        <p:nvSpPr>
          <p:cNvPr id="107" name="Google Shape;107;p1">
            <a:extLst>
              <a:ext uri="{FF2B5EF4-FFF2-40B4-BE49-F238E27FC236}">
                <a16:creationId xmlns:a16="http://schemas.microsoft.com/office/drawing/2014/main" id="{AD6DC285-4D86-E40D-7373-7BCF6729F0B6}"/>
              </a:ext>
            </a:extLst>
          </p:cNvPr>
          <p:cNvSpPr txBox="1">
            <a:spLocks noGrp="1"/>
          </p:cNvSpPr>
          <p:nvPr>
            <p:ph type="sldNum" idx="12"/>
          </p:nvPr>
        </p:nvSpPr>
        <p:spPr>
          <a:xfrm>
            <a:off x="8610600" y="6356350"/>
            <a:ext cx="2743200" cy="365125"/>
          </a:xfrm>
          <a:noFill/>
          <a:ln>
            <a:noFill/>
          </a:ln>
        </p:spPr>
        <p:txBody>
          <a:bodyPr spcFirstLastPara="1" wrap="square" lIns="91425" tIns="45700" rIns="91425" bIns="45700" anchor="ctr" anchorCtr="0">
            <a:noAutofit/>
          </a:bodyPr>
          <a:lstStyle/>
          <a:p>
            <a:pPr lvl="0"/>
            <a:fld id="{00000000-1234-1234-1234-123412341234}" type="slidenum">
              <a:rPr lang="en-US"/>
              <a:pPr lvl="0"/>
              <a:t>4</a:t>
            </a:fld>
            <a:endParaRPr lang="en-US"/>
          </a:p>
        </p:txBody>
      </p:sp>
      <p:pic>
        <p:nvPicPr>
          <p:cNvPr id="110" name="Google Shape;110;p1">
            <a:extLst>
              <a:ext uri="{FF2B5EF4-FFF2-40B4-BE49-F238E27FC236}">
                <a16:creationId xmlns:a16="http://schemas.microsoft.com/office/drawing/2014/main" id="{A2AAD2A7-1416-30A0-CE99-0C4AC9ADE121}"/>
              </a:ext>
            </a:extLst>
          </p:cNvPr>
          <p:cNvPicPr preferRelativeResize="0"/>
          <p:nvPr/>
        </p:nvPicPr>
        <p:blipFill>
          <a:blip r:embed="rId4"/>
          <a:srcRect/>
          <a:stretch/>
        </p:blipFill>
        <p:spPr>
          <a:xfrm>
            <a:off x="9010943" y="6291124"/>
            <a:ext cx="1362250" cy="365125"/>
          </a:xfrm>
          <a:prstGeom prst="rect">
            <a:avLst/>
          </a:prstGeom>
          <a:noFill/>
          <a:ln>
            <a:noFill/>
          </a:ln>
        </p:spPr>
      </p:pic>
      <p:sp>
        <p:nvSpPr>
          <p:cNvPr id="6" name="Google Shape;109;p1">
            <a:extLst>
              <a:ext uri="{FF2B5EF4-FFF2-40B4-BE49-F238E27FC236}">
                <a16:creationId xmlns:a16="http://schemas.microsoft.com/office/drawing/2014/main" id="{43E26E4C-0859-076E-B6DC-2A9B4858E548}"/>
              </a:ext>
            </a:extLst>
          </p:cNvPr>
          <p:cNvSpPr txBox="1"/>
          <p:nvPr/>
        </p:nvSpPr>
        <p:spPr>
          <a:xfrm>
            <a:off x="341649" y="1066273"/>
            <a:ext cx="11666135" cy="5260106"/>
          </a:xfrm>
          <a:prstGeom prst="rect">
            <a:avLst/>
          </a:prstGeom>
          <a:noFill/>
          <a:ln>
            <a:noFill/>
          </a:ln>
        </p:spPr>
        <p:txBody>
          <a:bodyPr spcFirstLastPara="1" wrap="square" lIns="91425" tIns="45700" rIns="91425" bIns="45700" anchor="t" anchorCtr="0">
            <a:noAutofit/>
          </a:bodyPr>
          <a:lstStyle/>
          <a:p>
            <a:r>
              <a:rPr lang="en-US" sz="1600" b="1" dirty="0"/>
              <a:t>Overview of User Journey</a:t>
            </a:r>
            <a:br>
              <a:rPr lang="ar-EG" sz="1600" b="1" dirty="0"/>
            </a:br>
            <a:endParaRPr lang="en-US" sz="1600" b="1" dirty="0"/>
          </a:p>
          <a:p>
            <a:r>
              <a:rPr lang="en-US" sz="1600" b="1" dirty="0"/>
              <a:t>1. Onboarding / First Interaction</a:t>
            </a:r>
          </a:p>
          <a:p>
            <a:pPr marL="285750" indent="-285750">
              <a:buFont typeface="Arial" panose="020B0604020202020204" pitchFamily="34" charset="0"/>
              <a:buChar char="•"/>
            </a:pPr>
            <a:r>
              <a:rPr lang="en-US" sz="1600" dirty="0"/>
              <a:t>User lands on the assistant’s page (e.g., Hugging Face Space).</a:t>
            </a:r>
          </a:p>
          <a:p>
            <a:pPr marL="285750" indent="-285750">
              <a:buFont typeface="Arial" panose="020B0604020202020204" pitchFamily="34" charset="0"/>
              <a:buChar char="•"/>
            </a:pPr>
            <a:r>
              <a:rPr lang="en-US" sz="1600" dirty="0"/>
              <a:t>Quick intro or example prompts show what the tool does.</a:t>
            </a:r>
          </a:p>
          <a:p>
            <a:pPr marL="285750" indent="-285750">
              <a:buFont typeface="Arial" panose="020B0604020202020204" pitchFamily="34" charset="0"/>
              <a:buChar char="•"/>
            </a:pPr>
            <a:r>
              <a:rPr lang="en-US" sz="1600" dirty="0"/>
              <a:t>User enters their first prompt (story idea, paragraph, or question).</a:t>
            </a:r>
          </a:p>
          <a:p>
            <a:pPr marL="285750" indent="-285750">
              <a:buFont typeface="Arial" panose="020B0604020202020204" pitchFamily="34" charset="0"/>
              <a:buChar char="•"/>
            </a:pPr>
            <a:r>
              <a:rPr lang="en-US" sz="1600" dirty="0"/>
              <a:t>Assistant generates immediate output → “first value moment.”</a:t>
            </a:r>
          </a:p>
          <a:p>
            <a:pPr marL="285750" lvl="0" indent="-285750" eaLnBrk="0" fontAlgn="base" hangingPunct="0">
              <a:spcBef>
                <a:spcPct val="0"/>
              </a:spcBef>
              <a:spcAft>
                <a:spcPct val="0"/>
              </a:spcAft>
              <a:buClrTx/>
              <a:buFont typeface="Arial" panose="020B0604020202020204" pitchFamily="34" charset="0"/>
              <a:buChar char="•"/>
            </a:pPr>
            <a:r>
              <a:rPr lang="en-US" altLang="en-US" sz="1600" dirty="0">
                <a:solidFill>
                  <a:schemeClr val="tx1"/>
                </a:solidFill>
                <a:latin typeface="Arial" panose="020B0604020202020204" pitchFamily="34" charset="0"/>
              </a:rPr>
              <a:t> User tries different prompt types (story generation, rewriting, expansion).</a:t>
            </a:r>
          </a:p>
          <a:p>
            <a:pPr marL="285750" lvl="0" indent="-285750" eaLnBrk="0" fontAlgn="base" hangingPunct="0">
              <a:spcBef>
                <a:spcPct val="0"/>
              </a:spcBef>
              <a:spcAft>
                <a:spcPct val="0"/>
              </a:spcAft>
              <a:buClrTx/>
              <a:buFont typeface="Arial" panose="020B0604020202020204" pitchFamily="34" charset="0"/>
              <a:buChar char="•"/>
            </a:pPr>
            <a:r>
              <a:rPr lang="en-US" altLang="en-US" sz="1600" dirty="0">
                <a:solidFill>
                  <a:schemeClr val="tx1"/>
                </a:solidFill>
                <a:latin typeface="Arial" panose="020B0604020202020204" pitchFamily="34" charset="0"/>
              </a:rPr>
              <a:t> Learns what the assistant can do through examples or trial-and-error.</a:t>
            </a:r>
          </a:p>
          <a:p>
            <a:pPr marL="285750" lvl="0" indent="-285750" eaLnBrk="0" fontAlgn="base" hangingPunct="0">
              <a:spcBef>
                <a:spcPct val="0"/>
              </a:spcBef>
              <a:spcAft>
                <a:spcPct val="0"/>
              </a:spcAft>
              <a:buClrTx/>
              <a:buFont typeface="Arial" panose="020B0604020202020204" pitchFamily="34" charset="0"/>
              <a:buChar char="•"/>
            </a:pPr>
            <a:r>
              <a:rPr lang="en-US" altLang="en-US" sz="1600" dirty="0">
                <a:solidFill>
                  <a:schemeClr val="tx1"/>
                </a:solidFill>
                <a:latin typeface="Arial" panose="020B0604020202020204" pitchFamily="34" charset="0"/>
              </a:rPr>
              <a:t> Begins adjusting tone, style, or length through prompts.</a:t>
            </a: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lang="en-US" sz="1600" b="1" dirty="0">
              <a:solidFill>
                <a:schemeClr val="dk1"/>
              </a:solidFill>
              <a:latin typeface="Calibri"/>
              <a:cs typeface="Calibri"/>
              <a:sym typeface="Calibri"/>
            </a:endParaRPr>
          </a:p>
          <a:p>
            <a:pPr lvl="0">
              <a:lnSpc>
                <a:spcPct val="90000"/>
              </a:lnSpc>
              <a:buClr>
                <a:srgbClr val="0D0D0D"/>
              </a:buClr>
              <a:buSzPts val="2000"/>
            </a:pPr>
            <a:endParaRPr sz="1600" b="1" dirty="0">
              <a:solidFill>
                <a:schemeClr val="dk1"/>
              </a:solidFill>
              <a:latin typeface="Calibri"/>
              <a:cs typeface="Calibri"/>
              <a:sym typeface="Calibri"/>
            </a:endParaRPr>
          </a:p>
        </p:txBody>
      </p:sp>
    </p:spTree>
    <p:extLst>
      <p:ext uri="{BB962C8B-B14F-4D97-AF65-F5344CB8AC3E}">
        <p14:creationId xmlns:p14="http://schemas.microsoft.com/office/powerpoint/2010/main" val="1795343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66A987B-44D8-E7B4-5C4A-02E8B590FD2A}"/>
            </a:ext>
          </a:extLst>
        </p:cNvPr>
        <p:cNvGrpSpPr/>
        <p:nvPr/>
      </p:nvGrpSpPr>
      <p:grpSpPr>
        <a:xfrm>
          <a:off x="0" y="0"/>
          <a:ext cx="0" cy="0"/>
          <a:chOff x="0" y="0"/>
          <a:chExt cx="0" cy="0"/>
        </a:xfrm>
      </p:grpSpPr>
      <p:sp>
        <p:nvSpPr>
          <p:cNvPr id="105" name="Google Shape;105;p1">
            <a:extLst>
              <a:ext uri="{FF2B5EF4-FFF2-40B4-BE49-F238E27FC236}">
                <a16:creationId xmlns:a16="http://schemas.microsoft.com/office/drawing/2014/main" id="{A56C838C-C57E-0A2A-32AA-E34F9D0A4A81}"/>
              </a:ext>
            </a:extLst>
          </p:cNvPr>
          <p:cNvSpPr txBox="1">
            <a:spLocks noGrp="1"/>
          </p:cNvSpPr>
          <p:nvPr>
            <p:ph type="dt" idx="10"/>
          </p:nvPr>
        </p:nvSpPr>
        <p:spPr>
          <a:xfrm>
            <a:off x="838200" y="6356350"/>
            <a:ext cx="2743200" cy="365125"/>
          </a:xfrm>
          <a:noFill/>
          <a:ln>
            <a:noFill/>
          </a:ln>
        </p:spPr>
        <p:txBody>
          <a:bodyPr spcFirstLastPara="1" wrap="square" lIns="91425" tIns="45700" rIns="91425" bIns="45700" anchor="ctr" anchorCtr="0">
            <a:noAutofit/>
          </a:bodyPr>
          <a:lstStyle/>
          <a:p>
            <a:r>
              <a:rPr lang="en-US" dirty="0"/>
              <a:t>11/30/25</a:t>
            </a:r>
          </a:p>
        </p:txBody>
      </p:sp>
      <p:sp>
        <p:nvSpPr>
          <p:cNvPr id="107" name="Google Shape;107;p1">
            <a:extLst>
              <a:ext uri="{FF2B5EF4-FFF2-40B4-BE49-F238E27FC236}">
                <a16:creationId xmlns:a16="http://schemas.microsoft.com/office/drawing/2014/main" id="{935CAAF1-3DE2-08FF-5E72-060ED0E32428}"/>
              </a:ext>
            </a:extLst>
          </p:cNvPr>
          <p:cNvSpPr txBox="1">
            <a:spLocks noGrp="1"/>
          </p:cNvSpPr>
          <p:nvPr>
            <p:ph type="sldNum" idx="12"/>
          </p:nvPr>
        </p:nvSpPr>
        <p:spPr>
          <a:xfrm>
            <a:off x="8610600" y="6356350"/>
            <a:ext cx="2743200" cy="365125"/>
          </a:xfrm>
          <a:noFill/>
          <a:ln>
            <a:noFill/>
          </a:ln>
        </p:spPr>
        <p:txBody>
          <a:bodyPr spcFirstLastPara="1" wrap="square" lIns="91425" tIns="45700" rIns="91425" bIns="45700" anchor="ctr" anchorCtr="0">
            <a:noAutofit/>
          </a:bodyPr>
          <a:lstStyle/>
          <a:p>
            <a:pPr lvl="0"/>
            <a:fld id="{00000000-1234-1234-1234-123412341234}" type="slidenum">
              <a:rPr lang="en-US"/>
              <a:pPr lvl="0"/>
              <a:t>5</a:t>
            </a:fld>
            <a:endParaRPr lang="en-US"/>
          </a:p>
        </p:txBody>
      </p:sp>
      <p:pic>
        <p:nvPicPr>
          <p:cNvPr id="110" name="Google Shape;110;p1">
            <a:extLst>
              <a:ext uri="{FF2B5EF4-FFF2-40B4-BE49-F238E27FC236}">
                <a16:creationId xmlns:a16="http://schemas.microsoft.com/office/drawing/2014/main" id="{B60F55BF-4CCD-B2AD-65D1-3D7F510E3903}"/>
              </a:ext>
            </a:extLst>
          </p:cNvPr>
          <p:cNvPicPr preferRelativeResize="0"/>
          <p:nvPr/>
        </p:nvPicPr>
        <p:blipFill>
          <a:blip r:embed="rId3"/>
          <a:srcRect/>
          <a:stretch/>
        </p:blipFill>
        <p:spPr>
          <a:xfrm>
            <a:off x="9010943" y="6291124"/>
            <a:ext cx="1362250" cy="365125"/>
          </a:xfrm>
          <a:prstGeom prst="rect">
            <a:avLst/>
          </a:prstGeom>
          <a:noFill/>
          <a:ln>
            <a:noFill/>
          </a:ln>
        </p:spPr>
      </p:pic>
      <p:sp>
        <p:nvSpPr>
          <p:cNvPr id="6" name="Google Shape;109;p1">
            <a:extLst>
              <a:ext uri="{FF2B5EF4-FFF2-40B4-BE49-F238E27FC236}">
                <a16:creationId xmlns:a16="http://schemas.microsoft.com/office/drawing/2014/main" id="{9CDC78FC-AF5C-841C-4086-012F43483655}"/>
              </a:ext>
            </a:extLst>
          </p:cNvPr>
          <p:cNvSpPr txBox="1"/>
          <p:nvPr/>
        </p:nvSpPr>
        <p:spPr>
          <a:xfrm>
            <a:off x="331601" y="1084017"/>
            <a:ext cx="11666135" cy="5260106"/>
          </a:xfrm>
          <a:prstGeom prst="rect">
            <a:avLst/>
          </a:prstGeom>
          <a:noFill/>
          <a:ln>
            <a:noFill/>
          </a:ln>
        </p:spPr>
        <p:txBody>
          <a:bodyPr spcFirstLastPara="1" wrap="square" lIns="91425" tIns="45700" rIns="91425" bIns="45700" anchor="t" anchorCtr="0">
            <a:noAutofit/>
          </a:bodyPr>
          <a:lstStyle/>
          <a:p>
            <a:r>
              <a:rPr lang="en-US" b="1" dirty="0"/>
              <a:t>Primary User Personas</a:t>
            </a:r>
          </a:p>
          <a:p>
            <a:r>
              <a:rPr lang="en-US" b="1" dirty="0"/>
              <a:t>1. Aspiring Writers / Students</a:t>
            </a:r>
          </a:p>
          <a:p>
            <a:r>
              <a:rPr lang="en-US" dirty="0"/>
              <a:t>Users who enjoy writing but struggle with generating ideas, structuring stories, or maintaining consistent quality. They need guidance, inspiration, and supportive tools to improve their writing skills.</a:t>
            </a:r>
          </a:p>
          <a:p>
            <a:r>
              <a:rPr lang="en-US" b="1" dirty="0"/>
              <a:t>2. Content Creators / Bloggers</a:t>
            </a:r>
          </a:p>
          <a:p>
            <a:r>
              <a:rPr lang="en-US" dirty="0"/>
              <a:t>Users who frequently create written content for social media, blogs, or online platforms. They need rapid content generation, rewriting assistance, and stylistic flexibility.</a:t>
            </a:r>
          </a:p>
          <a:p>
            <a:r>
              <a:rPr lang="en-US" b="1" dirty="0"/>
              <a:t>3. Educators / Writing Coaches</a:t>
            </a:r>
          </a:p>
          <a:p>
            <a:r>
              <a:rPr lang="en-US" dirty="0"/>
              <a:t>Teachers or mentors who guide students in writing exercises. They need tools that help demonstrate writing techniques, generate prompts, and support learning.</a:t>
            </a:r>
          </a:p>
          <a:p>
            <a:r>
              <a:rPr lang="en-US" b="1" dirty="0"/>
              <a:t>4. Creative Hobbyists</a:t>
            </a:r>
          </a:p>
          <a:p>
            <a:r>
              <a:rPr lang="en-US" dirty="0"/>
              <a:t>Users who write for fun and want a playful, creative tool to brainstorm stories, characters, and ideas without pressure or strict structure.</a:t>
            </a:r>
          </a:p>
          <a:p>
            <a:endParaRPr lang="en-US" dirty="0"/>
          </a:p>
          <a:p>
            <a:r>
              <a:rPr lang="en-US" b="1" dirty="0"/>
              <a:t>How the Features Solve Each End-User’s Problems</a:t>
            </a:r>
            <a:endParaRPr lang="en-US" dirty="0"/>
          </a:p>
          <a:p>
            <a:r>
              <a:rPr lang="en-US" b="1" dirty="0"/>
              <a:t>Aspiring Writers / Students</a:t>
            </a:r>
            <a:r>
              <a:rPr lang="en-US" dirty="0"/>
              <a:t> benefit from AI-generated ideas, structured plot guidance, and grammar improvements, helping them overcome writer’s block, learn better writing techniques, and gain confidence through real-time support.</a:t>
            </a:r>
          </a:p>
          <a:p>
            <a:r>
              <a:rPr lang="en-US" b="1" dirty="0"/>
              <a:t>Content Creators / Bloggers</a:t>
            </a:r>
            <a:r>
              <a:rPr lang="en-US" dirty="0"/>
              <a:t> get fast, tailored content through tone adjustment, rewrite/expansion tools, and customizable outputs, enabling them to maintain consistent style and produce polished material quickly.</a:t>
            </a:r>
          </a:p>
          <a:p>
            <a:r>
              <a:rPr lang="en-US" b="1" dirty="0"/>
              <a:t>Educators / Writing Coaches</a:t>
            </a:r>
            <a:r>
              <a:rPr lang="en-US" dirty="0"/>
              <a:t> use prompt generation, character/world-building tools, and real-time assistance to create engaging writing exercises, demonstrate storytelling concepts, and support student practice.</a:t>
            </a:r>
          </a:p>
          <a:p>
            <a:r>
              <a:rPr lang="en-US" b="1" dirty="0"/>
              <a:t>Creative Hobbyists</a:t>
            </a:r>
            <a:r>
              <a:rPr lang="en-US" dirty="0"/>
              <a:t> enjoy creative prompts, playful world-building features, and high-creativity modes that inspire imagination, offering a flexible and fun writing experience without strict structure.</a:t>
            </a:r>
          </a:p>
          <a:p>
            <a:br>
              <a:rPr lang="en-US" dirty="0"/>
            </a:br>
            <a:br>
              <a:rPr lang="en-US" dirty="0"/>
            </a:br>
            <a:endParaRPr lang="en-US" dirty="0"/>
          </a:p>
          <a:p>
            <a:pPr lvl="0" algn="ctr">
              <a:lnSpc>
                <a:spcPct val="90000"/>
              </a:lnSpc>
              <a:buClr>
                <a:srgbClr val="0D0D0D"/>
              </a:buClr>
              <a:buSzPts val="2000"/>
            </a:pPr>
            <a:endParaRPr b="1" dirty="0">
              <a:solidFill>
                <a:schemeClr val="dk1"/>
              </a:solidFill>
              <a:latin typeface="Calibri"/>
              <a:cs typeface="Calibri"/>
              <a:sym typeface="Calibri"/>
            </a:endParaRPr>
          </a:p>
        </p:txBody>
      </p:sp>
    </p:spTree>
    <p:extLst>
      <p:ext uri="{BB962C8B-B14F-4D97-AF65-F5344CB8AC3E}">
        <p14:creationId xmlns:p14="http://schemas.microsoft.com/office/powerpoint/2010/main" val="2578815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B23BF75-0454-5E6E-1DF4-9E1CA39DF137}"/>
            </a:ext>
          </a:extLst>
        </p:cNvPr>
        <p:cNvGrpSpPr/>
        <p:nvPr/>
      </p:nvGrpSpPr>
      <p:grpSpPr>
        <a:xfrm>
          <a:off x="0" y="0"/>
          <a:ext cx="0" cy="0"/>
          <a:chOff x="0" y="0"/>
          <a:chExt cx="0" cy="0"/>
        </a:xfrm>
      </p:grpSpPr>
      <p:sp>
        <p:nvSpPr>
          <p:cNvPr id="105" name="Google Shape;105;p1">
            <a:extLst>
              <a:ext uri="{FF2B5EF4-FFF2-40B4-BE49-F238E27FC236}">
                <a16:creationId xmlns:a16="http://schemas.microsoft.com/office/drawing/2014/main" id="{C7297A0E-7F6D-CF4A-1EA7-4D4C2C18D07E}"/>
              </a:ext>
            </a:extLst>
          </p:cNvPr>
          <p:cNvSpPr txBox="1">
            <a:spLocks noGrp="1"/>
          </p:cNvSpPr>
          <p:nvPr>
            <p:ph type="dt" idx="10"/>
          </p:nvPr>
        </p:nvSpPr>
        <p:spPr>
          <a:xfrm>
            <a:off x="838200" y="6356350"/>
            <a:ext cx="2743200" cy="365125"/>
          </a:xfrm>
          <a:noFill/>
          <a:ln>
            <a:noFill/>
          </a:ln>
        </p:spPr>
        <p:txBody>
          <a:bodyPr spcFirstLastPara="1" wrap="square" lIns="91425" tIns="45700" rIns="91425" bIns="45700" anchor="ctr" anchorCtr="0">
            <a:noAutofit/>
          </a:bodyPr>
          <a:lstStyle/>
          <a:p>
            <a:r>
              <a:rPr lang="en-US" dirty="0"/>
              <a:t>11/30/25</a:t>
            </a:r>
          </a:p>
        </p:txBody>
      </p:sp>
      <p:sp>
        <p:nvSpPr>
          <p:cNvPr id="107" name="Google Shape;107;p1">
            <a:extLst>
              <a:ext uri="{FF2B5EF4-FFF2-40B4-BE49-F238E27FC236}">
                <a16:creationId xmlns:a16="http://schemas.microsoft.com/office/drawing/2014/main" id="{597883F7-3247-56F7-FC0A-B710717EA6A4}"/>
              </a:ext>
            </a:extLst>
          </p:cNvPr>
          <p:cNvSpPr txBox="1">
            <a:spLocks noGrp="1"/>
          </p:cNvSpPr>
          <p:nvPr>
            <p:ph type="sldNum" idx="12"/>
          </p:nvPr>
        </p:nvSpPr>
        <p:spPr>
          <a:xfrm>
            <a:off x="8610600" y="6356350"/>
            <a:ext cx="2743200" cy="365125"/>
          </a:xfrm>
          <a:noFill/>
          <a:ln>
            <a:noFill/>
          </a:ln>
        </p:spPr>
        <p:txBody>
          <a:bodyPr spcFirstLastPara="1" wrap="square" lIns="91425" tIns="45700" rIns="91425" bIns="45700" anchor="ctr" anchorCtr="0">
            <a:noAutofit/>
          </a:bodyPr>
          <a:lstStyle/>
          <a:p>
            <a:pPr lvl="0"/>
            <a:fld id="{00000000-1234-1234-1234-123412341234}" type="slidenum">
              <a:rPr lang="en-US"/>
              <a:pPr lvl="0"/>
              <a:t>6</a:t>
            </a:fld>
            <a:endParaRPr lang="en-US"/>
          </a:p>
        </p:txBody>
      </p:sp>
      <p:pic>
        <p:nvPicPr>
          <p:cNvPr id="110" name="Google Shape;110;p1">
            <a:extLst>
              <a:ext uri="{FF2B5EF4-FFF2-40B4-BE49-F238E27FC236}">
                <a16:creationId xmlns:a16="http://schemas.microsoft.com/office/drawing/2014/main" id="{7B004CB3-ECF9-093C-B9F1-479F1403F3C6}"/>
              </a:ext>
            </a:extLst>
          </p:cNvPr>
          <p:cNvPicPr preferRelativeResize="0"/>
          <p:nvPr/>
        </p:nvPicPr>
        <p:blipFill>
          <a:blip r:embed="rId3"/>
          <a:srcRect/>
          <a:stretch/>
        </p:blipFill>
        <p:spPr>
          <a:xfrm>
            <a:off x="9010943" y="6291124"/>
            <a:ext cx="1362250" cy="365125"/>
          </a:xfrm>
          <a:prstGeom prst="rect">
            <a:avLst/>
          </a:prstGeom>
          <a:noFill/>
          <a:ln>
            <a:noFill/>
          </a:ln>
        </p:spPr>
      </p:pic>
      <p:sp>
        <p:nvSpPr>
          <p:cNvPr id="6" name="Google Shape;109;p1">
            <a:extLst>
              <a:ext uri="{FF2B5EF4-FFF2-40B4-BE49-F238E27FC236}">
                <a16:creationId xmlns:a16="http://schemas.microsoft.com/office/drawing/2014/main" id="{DBDCD130-9AE0-A7C3-E7DC-5079535E711A}"/>
              </a:ext>
            </a:extLst>
          </p:cNvPr>
          <p:cNvSpPr txBox="1"/>
          <p:nvPr/>
        </p:nvSpPr>
        <p:spPr>
          <a:xfrm>
            <a:off x="361746" y="1278806"/>
            <a:ext cx="11666135" cy="5260106"/>
          </a:xfrm>
          <a:prstGeom prst="rect">
            <a:avLst/>
          </a:prstGeom>
          <a:noFill/>
          <a:ln>
            <a:noFill/>
          </a:ln>
        </p:spPr>
        <p:txBody>
          <a:bodyPr spcFirstLastPara="1" wrap="square" lIns="91425" tIns="45700" rIns="91425" bIns="45700" anchor="t" anchorCtr="0">
            <a:noAutofit/>
          </a:bodyPr>
          <a:lstStyle/>
          <a:p>
            <a:r>
              <a:rPr lang="en-US" sz="2000" b="1" dirty="0"/>
              <a:t>Key Features That Address User Needs</a:t>
            </a:r>
          </a:p>
          <a:p>
            <a:r>
              <a:rPr lang="en-US" sz="2000" dirty="0"/>
              <a:t>Idea &amp; Prompt Generation</a:t>
            </a:r>
          </a:p>
          <a:p>
            <a:r>
              <a:rPr lang="en-US" sz="2000" dirty="0"/>
              <a:t>Character and World-Building Tools</a:t>
            </a:r>
          </a:p>
          <a:p>
            <a:r>
              <a:rPr lang="en-US" sz="2000" dirty="0"/>
              <a:t>Plot &amp; Story Structure Generation</a:t>
            </a:r>
          </a:p>
          <a:p>
            <a:r>
              <a:rPr lang="en-US" sz="2000" dirty="0"/>
              <a:t>Grammar and Style Enhancement</a:t>
            </a:r>
          </a:p>
          <a:p>
            <a:r>
              <a:rPr lang="en-US" sz="2000" dirty="0"/>
              <a:t>Tone and Style Adjustment</a:t>
            </a:r>
          </a:p>
          <a:p>
            <a:r>
              <a:rPr lang="en-US" sz="2000" dirty="0"/>
              <a:t>Real-Time Interactive Writing Assistance</a:t>
            </a:r>
          </a:p>
          <a:p>
            <a:r>
              <a:rPr lang="en-US" sz="2000" dirty="0"/>
              <a:t>Customizable Output (genre, creativity level, writing length)</a:t>
            </a:r>
          </a:p>
          <a:p>
            <a:r>
              <a:rPr lang="en-US" sz="2000" dirty="0"/>
              <a:t>Rewrite &amp; Expand Text Options</a:t>
            </a:r>
          </a:p>
          <a:p>
            <a:pPr lvl="0" algn="ctr">
              <a:lnSpc>
                <a:spcPct val="90000"/>
              </a:lnSpc>
              <a:buClr>
                <a:srgbClr val="0D0D0D"/>
              </a:buClr>
              <a:buSzPts val="2000"/>
            </a:pPr>
            <a:endParaRPr sz="2000" b="1" dirty="0">
              <a:solidFill>
                <a:schemeClr val="dk1"/>
              </a:solidFill>
              <a:latin typeface="Calibri"/>
              <a:cs typeface="Calibri"/>
              <a:sym typeface="Calibri"/>
            </a:endParaRPr>
          </a:p>
        </p:txBody>
      </p:sp>
    </p:spTree>
    <p:extLst>
      <p:ext uri="{BB962C8B-B14F-4D97-AF65-F5344CB8AC3E}">
        <p14:creationId xmlns:p14="http://schemas.microsoft.com/office/powerpoint/2010/main" val="3670018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7CE0A54-25DC-8078-6D8E-2803050FCC9C}"/>
            </a:ext>
          </a:extLst>
        </p:cNvPr>
        <p:cNvGrpSpPr/>
        <p:nvPr/>
      </p:nvGrpSpPr>
      <p:grpSpPr>
        <a:xfrm>
          <a:off x="0" y="0"/>
          <a:ext cx="0" cy="0"/>
          <a:chOff x="0" y="0"/>
          <a:chExt cx="0" cy="0"/>
        </a:xfrm>
      </p:grpSpPr>
      <p:sp>
        <p:nvSpPr>
          <p:cNvPr id="105" name="Google Shape;105;p1">
            <a:extLst>
              <a:ext uri="{FF2B5EF4-FFF2-40B4-BE49-F238E27FC236}">
                <a16:creationId xmlns:a16="http://schemas.microsoft.com/office/drawing/2014/main" id="{7F039FBD-8E24-19DF-CA5C-A3A578D4E570}"/>
              </a:ext>
            </a:extLst>
          </p:cNvPr>
          <p:cNvSpPr txBox="1">
            <a:spLocks noGrp="1"/>
          </p:cNvSpPr>
          <p:nvPr>
            <p:ph type="dt" idx="10"/>
          </p:nvPr>
        </p:nvSpPr>
        <p:spPr>
          <a:xfrm>
            <a:off x="838200" y="6356350"/>
            <a:ext cx="2743200" cy="365125"/>
          </a:xfrm>
          <a:noFill/>
          <a:ln>
            <a:noFill/>
          </a:ln>
        </p:spPr>
        <p:txBody>
          <a:bodyPr spcFirstLastPara="1" wrap="square" lIns="91425" tIns="45700" rIns="91425" bIns="45700" anchor="ctr" anchorCtr="0">
            <a:noAutofit/>
          </a:bodyPr>
          <a:lstStyle/>
          <a:p>
            <a:r>
              <a:rPr lang="en-US" dirty="0"/>
              <a:t>11/30/25</a:t>
            </a:r>
          </a:p>
        </p:txBody>
      </p:sp>
      <p:sp>
        <p:nvSpPr>
          <p:cNvPr id="107" name="Google Shape;107;p1">
            <a:extLst>
              <a:ext uri="{FF2B5EF4-FFF2-40B4-BE49-F238E27FC236}">
                <a16:creationId xmlns:a16="http://schemas.microsoft.com/office/drawing/2014/main" id="{A2D3DA81-7E05-71BB-BD4E-783B9B7FFA11}"/>
              </a:ext>
            </a:extLst>
          </p:cNvPr>
          <p:cNvSpPr txBox="1">
            <a:spLocks noGrp="1"/>
          </p:cNvSpPr>
          <p:nvPr>
            <p:ph type="sldNum" idx="12"/>
          </p:nvPr>
        </p:nvSpPr>
        <p:spPr>
          <a:xfrm>
            <a:off x="8610600" y="6356350"/>
            <a:ext cx="2743200" cy="365125"/>
          </a:xfrm>
          <a:noFill/>
          <a:ln>
            <a:noFill/>
          </a:ln>
        </p:spPr>
        <p:txBody>
          <a:bodyPr spcFirstLastPara="1" wrap="square" lIns="91425" tIns="45700" rIns="91425" bIns="45700" anchor="ctr" anchorCtr="0">
            <a:noAutofit/>
          </a:bodyPr>
          <a:lstStyle/>
          <a:p>
            <a:pPr lvl="0"/>
            <a:fld id="{00000000-1234-1234-1234-123412341234}" type="slidenum">
              <a:rPr lang="en-US"/>
              <a:pPr lvl="0"/>
              <a:t>7</a:t>
            </a:fld>
            <a:endParaRPr lang="en-US"/>
          </a:p>
        </p:txBody>
      </p:sp>
      <p:pic>
        <p:nvPicPr>
          <p:cNvPr id="110" name="Google Shape;110;p1">
            <a:extLst>
              <a:ext uri="{FF2B5EF4-FFF2-40B4-BE49-F238E27FC236}">
                <a16:creationId xmlns:a16="http://schemas.microsoft.com/office/drawing/2014/main" id="{13EA42A2-FDF7-13F9-2285-B7CBC7F95EB5}"/>
              </a:ext>
            </a:extLst>
          </p:cNvPr>
          <p:cNvPicPr preferRelativeResize="0"/>
          <p:nvPr/>
        </p:nvPicPr>
        <p:blipFill>
          <a:blip r:embed="rId3"/>
          <a:srcRect/>
          <a:stretch/>
        </p:blipFill>
        <p:spPr>
          <a:xfrm>
            <a:off x="9010943" y="6291124"/>
            <a:ext cx="1362250" cy="365125"/>
          </a:xfrm>
          <a:prstGeom prst="rect">
            <a:avLst/>
          </a:prstGeom>
          <a:noFill/>
          <a:ln>
            <a:noFill/>
          </a:ln>
        </p:spPr>
      </p:pic>
      <p:sp>
        <p:nvSpPr>
          <p:cNvPr id="6" name="Google Shape;109;p1">
            <a:extLst>
              <a:ext uri="{FF2B5EF4-FFF2-40B4-BE49-F238E27FC236}">
                <a16:creationId xmlns:a16="http://schemas.microsoft.com/office/drawing/2014/main" id="{AFEE31C3-8464-D0B3-9E45-489289ADFF45}"/>
              </a:ext>
            </a:extLst>
          </p:cNvPr>
          <p:cNvSpPr txBox="1"/>
          <p:nvPr/>
        </p:nvSpPr>
        <p:spPr>
          <a:xfrm>
            <a:off x="249986" y="1278806"/>
            <a:ext cx="11666135" cy="5260106"/>
          </a:xfrm>
          <a:prstGeom prst="rect">
            <a:avLst/>
          </a:prstGeom>
          <a:noFill/>
          <a:ln>
            <a:noFill/>
          </a:ln>
        </p:spPr>
        <p:txBody>
          <a:bodyPr spcFirstLastPara="1" wrap="square" lIns="91425" tIns="45700" rIns="91425" bIns="45700" anchor="t" anchorCtr="0">
            <a:noAutofit/>
          </a:bodyPr>
          <a:lstStyle/>
          <a:p>
            <a:r>
              <a:rPr lang="en-US" sz="2000" b="1" dirty="0"/>
              <a:t>Data Structure:</a:t>
            </a:r>
            <a:br>
              <a:rPr lang="en-US" sz="2000" b="1" dirty="0"/>
            </a:br>
            <a:br>
              <a:rPr lang="en-US" sz="2000" b="1" dirty="0"/>
            </a:br>
            <a:r>
              <a:rPr lang="en-US" b="1" dirty="0"/>
              <a:t>Description of the Database Architecture: </a:t>
            </a:r>
            <a:r>
              <a:rPr lang="en-US" dirty="0"/>
              <a:t>The application likely uses a stateless or in-memory architecture.</a:t>
            </a:r>
            <a:br>
              <a:rPr lang="en-US" dirty="0"/>
            </a:br>
            <a:r>
              <a:rPr lang="en-US" dirty="0"/>
              <a:t>There is typically no persistent database (relational or non-relational) for simple AI assistants hosted on Hugging Face Spaces. Conversation history, if maintained, is stored temporarily in the application's session memory (e.g., a list of dictionaries in a Python variable).</a:t>
            </a:r>
            <a:br>
              <a:rPr lang="en-US" dirty="0"/>
            </a:br>
            <a:endParaRPr lang="en-US" sz="1600" dirty="0"/>
          </a:p>
          <a:p>
            <a:r>
              <a:rPr lang="en-US" sz="1600" b="1" dirty="0"/>
              <a:t>Key Entities and </a:t>
            </a:r>
            <a:r>
              <a:rPr lang="en-US" sz="1600" b="1" dirty="0" err="1"/>
              <a:t>RelationshipsKey</a:t>
            </a:r>
            <a:r>
              <a:rPr lang="en-US" sz="1600" b="1" dirty="0"/>
              <a:t> </a:t>
            </a:r>
            <a:r>
              <a:rPr lang="en-US" sz="1600" b="1" dirty="0" err="1"/>
              <a:t>Entities:</a:t>
            </a:r>
            <a:r>
              <a:rPr lang="en-US" sz="1600" dirty="0" err="1"/>
              <a:t>User</a:t>
            </a:r>
            <a:r>
              <a:rPr lang="en-US" sz="1600" dirty="0"/>
              <a:t> Prompt (Input): The text provided by the user (e.g., "Write a story about a brave knight").LLM (Large Language Model): The external entity that performs the creative writing (e.g., Meta Llama 3, Qwen).AI-Generated Response (Output): The creative text returned by the </a:t>
            </a:r>
            <a:r>
              <a:rPr lang="en-US" sz="1600" dirty="0" err="1"/>
              <a:t>LLM.Conversation</a:t>
            </a:r>
            <a:r>
              <a:rPr lang="en-US" sz="1600" dirty="0"/>
              <a:t> History: The sequence of previous User Prompts and AI Responses (if chat functionality is included).</a:t>
            </a:r>
            <a:r>
              <a:rPr lang="en-US" sz="1600" dirty="0" err="1"/>
              <a:t>Relationships:User</a:t>
            </a:r>
            <a:r>
              <a:rPr lang="en-US" sz="1600" dirty="0"/>
              <a:t> Prompt $\</a:t>
            </a:r>
            <a:r>
              <a:rPr lang="en-US" sz="1600" dirty="0" err="1"/>
              <a:t>rightarrow</a:t>
            </a:r>
            <a:r>
              <a:rPr lang="en-US" sz="1600" dirty="0"/>
              <a:t>$ LLM (Request/Input)LLM $\</a:t>
            </a:r>
            <a:r>
              <a:rPr lang="en-US" sz="1600" dirty="0" err="1"/>
              <a:t>rightarrow</a:t>
            </a:r>
            <a:r>
              <a:rPr lang="en-US" sz="1600" dirty="0"/>
              <a:t>$ AI-Generated Response (Response/Output)Conversation History is composed of a sequence of User Prompts and AI-Generated Responses.</a:t>
            </a:r>
            <a:br>
              <a:rPr lang="en-US" sz="1600" dirty="0"/>
            </a:br>
            <a:br>
              <a:rPr lang="en-US" sz="1600" dirty="0"/>
            </a:br>
            <a:r>
              <a:rPr lang="en-US" sz="1600" b="1" dirty="0"/>
              <a:t>Data </a:t>
            </a:r>
            <a:r>
              <a:rPr lang="en-US" sz="1600" b="1" dirty="0" err="1"/>
              <a:t>FlowThe</a:t>
            </a:r>
            <a:r>
              <a:rPr lang="en-US" sz="1600" b="1" dirty="0"/>
              <a:t> data flow is a sequential Request-Response </a:t>
            </a:r>
            <a:r>
              <a:rPr lang="en-US" sz="1600" b="1" dirty="0" err="1"/>
              <a:t>cycle:Collection</a:t>
            </a:r>
            <a:r>
              <a:rPr lang="en-US" sz="1600" b="1" dirty="0"/>
              <a:t>:</a:t>
            </a:r>
            <a:r>
              <a:rPr lang="en-US" sz="1600" dirty="0"/>
              <a:t> The user enters a User Prompt into the </a:t>
            </a:r>
            <a:r>
              <a:rPr lang="en-US" sz="1600" dirty="0" err="1"/>
              <a:t>Gradio</a:t>
            </a:r>
            <a:r>
              <a:rPr lang="en-US" sz="1600" dirty="0"/>
              <a:t>/</a:t>
            </a:r>
            <a:r>
              <a:rPr lang="en-US" sz="1600" dirty="0" err="1"/>
              <a:t>Streamlit</a:t>
            </a:r>
            <a:r>
              <a:rPr lang="en-US" sz="1600" dirty="0"/>
              <a:t> </a:t>
            </a:r>
            <a:r>
              <a:rPr lang="en-US" sz="1600" dirty="0" err="1"/>
              <a:t>UI.Processing</a:t>
            </a:r>
            <a:r>
              <a:rPr lang="en-US" sz="1600" dirty="0"/>
              <a:t> &amp; Storage (Temporary): The Python backend code receives the input. It may append the prompt to the current Conversation History list (in memory) and format the entire history into a single structured prompt for the </a:t>
            </a:r>
            <a:r>
              <a:rPr lang="en-US" sz="1600" dirty="0" err="1"/>
              <a:t>LLM.Access</a:t>
            </a:r>
            <a:r>
              <a:rPr lang="en-US" sz="1600" dirty="0"/>
              <a:t>: The backend sends the formatted prompt (a string of data) via an API call (e.g., to the Hugging Face Inference API).Generation: The remote LLM processes the data and generates the AI-Generated </a:t>
            </a:r>
            <a:r>
              <a:rPr lang="en-US" sz="1600" dirty="0" err="1"/>
              <a:t>Response.Output</a:t>
            </a:r>
            <a:r>
              <a:rPr lang="en-US" sz="1600" dirty="0"/>
              <a:t>: The backend receives the response and streams or displays it to the user via the UI. The cycle then repeats.</a:t>
            </a:r>
          </a:p>
        </p:txBody>
      </p:sp>
    </p:spTree>
    <p:extLst>
      <p:ext uri="{BB962C8B-B14F-4D97-AF65-F5344CB8AC3E}">
        <p14:creationId xmlns:p14="http://schemas.microsoft.com/office/powerpoint/2010/main" val="2393025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70FA491-76FE-5925-D0E7-B28EAE2C174C}"/>
            </a:ext>
          </a:extLst>
        </p:cNvPr>
        <p:cNvGrpSpPr/>
        <p:nvPr/>
      </p:nvGrpSpPr>
      <p:grpSpPr>
        <a:xfrm>
          <a:off x="0" y="0"/>
          <a:ext cx="0" cy="0"/>
          <a:chOff x="0" y="0"/>
          <a:chExt cx="0" cy="0"/>
        </a:xfrm>
      </p:grpSpPr>
      <p:sp>
        <p:nvSpPr>
          <p:cNvPr id="105" name="Google Shape;105;p1">
            <a:extLst>
              <a:ext uri="{FF2B5EF4-FFF2-40B4-BE49-F238E27FC236}">
                <a16:creationId xmlns:a16="http://schemas.microsoft.com/office/drawing/2014/main" id="{0950D8D4-963A-E23B-EB53-A3280BF17C52}"/>
              </a:ext>
            </a:extLst>
          </p:cNvPr>
          <p:cNvSpPr txBox="1">
            <a:spLocks noGrp="1"/>
          </p:cNvSpPr>
          <p:nvPr>
            <p:ph type="dt" idx="10"/>
          </p:nvPr>
        </p:nvSpPr>
        <p:spPr>
          <a:xfrm>
            <a:off x="838200" y="6356350"/>
            <a:ext cx="2743200" cy="365125"/>
          </a:xfrm>
          <a:noFill/>
          <a:ln>
            <a:noFill/>
          </a:ln>
        </p:spPr>
        <p:txBody>
          <a:bodyPr spcFirstLastPara="1" wrap="square" lIns="91425" tIns="45700" rIns="91425" bIns="45700" anchor="ctr" anchorCtr="0">
            <a:noAutofit/>
          </a:bodyPr>
          <a:lstStyle/>
          <a:p>
            <a:r>
              <a:rPr lang="en-US" dirty="0"/>
              <a:t>11/30/25</a:t>
            </a:r>
          </a:p>
        </p:txBody>
      </p:sp>
      <p:sp>
        <p:nvSpPr>
          <p:cNvPr id="107" name="Google Shape;107;p1">
            <a:extLst>
              <a:ext uri="{FF2B5EF4-FFF2-40B4-BE49-F238E27FC236}">
                <a16:creationId xmlns:a16="http://schemas.microsoft.com/office/drawing/2014/main" id="{297DA596-8602-A278-4694-01E9F11C9C66}"/>
              </a:ext>
            </a:extLst>
          </p:cNvPr>
          <p:cNvSpPr txBox="1">
            <a:spLocks noGrp="1"/>
          </p:cNvSpPr>
          <p:nvPr>
            <p:ph type="sldNum" idx="12"/>
          </p:nvPr>
        </p:nvSpPr>
        <p:spPr>
          <a:xfrm>
            <a:off x="8610600" y="6356350"/>
            <a:ext cx="2743200" cy="365125"/>
          </a:xfrm>
          <a:noFill/>
          <a:ln>
            <a:noFill/>
          </a:ln>
        </p:spPr>
        <p:txBody>
          <a:bodyPr spcFirstLastPara="1" wrap="square" lIns="91425" tIns="45700" rIns="91425" bIns="45700" anchor="ctr" anchorCtr="0">
            <a:noAutofit/>
          </a:bodyPr>
          <a:lstStyle/>
          <a:p>
            <a:pPr lvl="0"/>
            <a:fld id="{00000000-1234-1234-1234-123412341234}" type="slidenum">
              <a:rPr lang="en-US"/>
              <a:pPr lvl="0"/>
              <a:t>8</a:t>
            </a:fld>
            <a:endParaRPr lang="en-US"/>
          </a:p>
        </p:txBody>
      </p:sp>
      <p:pic>
        <p:nvPicPr>
          <p:cNvPr id="110" name="Google Shape;110;p1">
            <a:extLst>
              <a:ext uri="{FF2B5EF4-FFF2-40B4-BE49-F238E27FC236}">
                <a16:creationId xmlns:a16="http://schemas.microsoft.com/office/drawing/2014/main" id="{B1471F3D-2465-D44D-5E2E-0E5B5104C8B5}"/>
              </a:ext>
            </a:extLst>
          </p:cNvPr>
          <p:cNvPicPr preferRelativeResize="0"/>
          <p:nvPr/>
        </p:nvPicPr>
        <p:blipFill>
          <a:blip r:embed="rId3"/>
          <a:srcRect/>
          <a:stretch/>
        </p:blipFill>
        <p:spPr>
          <a:xfrm>
            <a:off x="9010943" y="6291124"/>
            <a:ext cx="1362250" cy="365125"/>
          </a:xfrm>
          <a:prstGeom prst="rect">
            <a:avLst/>
          </a:prstGeom>
          <a:noFill/>
          <a:ln>
            <a:noFill/>
          </a:ln>
        </p:spPr>
      </p:pic>
      <p:sp>
        <p:nvSpPr>
          <p:cNvPr id="6" name="Google Shape;109;p1">
            <a:extLst>
              <a:ext uri="{FF2B5EF4-FFF2-40B4-BE49-F238E27FC236}">
                <a16:creationId xmlns:a16="http://schemas.microsoft.com/office/drawing/2014/main" id="{773F204C-7716-7CC8-B667-7995A7F6B49D}"/>
              </a:ext>
            </a:extLst>
          </p:cNvPr>
          <p:cNvSpPr txBox="1"/>
          <p:nvPr/>
        </p:nvSpPr>
        <p:spPr>
          <a:xfrm>
            <a:off x="249986" y="1278806"/>
            <a:ext cx="11666135" cy="5260106"/>
          </a:xfrm>
          <a:prstGeom prst="rect">
            <a:avLst/>
          </a:prstGeom>
          <a:noFill/>
          <a:ln>
            <a:noFill/>
          </a:ln>
        </p:spPr>
        <p:txBody>
          <a:bodyPr spcFirstLastPara="1" wrap="square" lIns="91425" tIns="45700" rIns="91425" bIns="45700" anchor="t" anchorCtr="0">
            <a:noAutofit/>
          </a:bodyPr>
          <a:lstStyle/>
          <a:p>
            <a:r>
              <a:rPr lang="en-US" sz="2000" b="1" dirty="0">
                <a:solidFill>
                  <a:srgbClr val="0D0D0D"/>
                </a:solidFill>
              </a:rPr>
              <a:t>Programming Languages &amp; Frameworks:</a:t>
            </a:r>
            <a:br>
              <a:rPr lang="en-US" sz="2000" b="1" dirty="0"/>
            </a:br>
            <a:br>
              <a:rPr lang="en-US" sz="2000" b="1" dirty="0"/>
            </a:br>
            <a:r>
              <a:rPr lang="en-US" b="1" dirty="0"/>
              <a:t>Python: </a:t>
            </a:r>
            <a:r>
              <a:rPr lang="en-US" dirty="0"/>
              <a:t>The primary language used for the backend logic, handling the user interface (UI) components, prompt processing, and calling the Large Language Model (LLM).HTML/CSS/JavaScript: Used indirectly for the front-end interface, as the chosen framework (</a:t>
            </a:r>
            <a:r>
              <a:rPr lang="en-US" dirty="0" err="1"/>
              <a:t>Gradio</a:t>
            </a:r>
            <a:r>
              <a:rPr lang="en-US" dirty="0"/>
              <a:t> or </a:t>
            </a:r>
            <a:r>
              <a:rPr lang="en-US" dirty="0" err="1"/>
              <a:t>Streamlit</a:t>
            </a:r>
            <a:r>
              <a:rPr lang="en-US" dirty="0"/>
              <a:t>) renders these components automatically.</a:t>
            </a:r>
            <a:br>
              <a:rPr lang="en-US" dirty="0"/>
            </a:br>
            <a:br>
              <a:rPr lang="en-US" dirty="0"/>
            </a:br>
            <a:r>
              <a:rPr lang="en-US" b="1" dirty="0"/>
              <a:t>Frameworks/Tools Used </a:t>
            </a:r>
            <a:r>
              <a:rPr lang="en-US" b="1" dirty="0" err="1"/>
              <a:t>Gradio</a:t>
            </a:r>
            <a:r>
              <a:rPr lang="en-US" b="1" dirty="0"/>
              <a:t> or </a:t>
            </a:r>
            <a:r>
              <a:rPr lang="en-US" b="1" dirty="0" err="1"/>
              <a:t>Streamlit</a:t>
            </a:r>
            <a:r>
              <a:rPr lang="en-US" b="1" dirty="0"/>
              <a:t>:</a:t>
            </a:r>
            <a:r>
              <a:rPr lang="en-US" dirty="0"/>
              <a:t> One of these is almost certainly the UI framework (SDK) used to quickly create the web interface and deploy it on Hugging Face </a:t>
            </a:r>
            <a:r>
              <a:rPr lang="en-US" dirty="0" err="1"/>
              <a:t>Spaces.Hugging</a:t>
            </a:r>
            <a:r>
              <a:rPr lang="en-US" dirty="0"/>
              <a:t> Face transformers / </a:t>
            </a:r>
            <a:r>
              <a:rPr lang="en-US" dirty="0" err="1"/>
              <a:t>huggingface_hub</a:t>
            </a:r>
            <a:r>
              <a:rPr lang="en-US" dirty="0"/>
              <a:t>: Core libraries used for accessing and interacting with pre-trained Large Language Models (LLMs) hosted on the Hugging Face </a:t>
            </a:r>
            <a:r>
              <a:rPr lang="en-US" dirty="0" err="1"/>
              <a:t>Hub.LangChain</a:t>
            </a:r>
            <a:r>
              <a:rPr lang="en-US" dirty="0"/>
              <a:t> (or similar library): Often used for orchestrating the LLM calls, managing prompts, and handling conversational history.</a:t>
            </a:r>
            <a:br>
              <a:rPr lang="en-US" dirty="0"/>
            </a:br>
            <a:br>
              <a:rPr lang="en-US" dirty="0"/>
            </a:br>
            <a:r>
              <a:rPr lang="en-US" b="1" dirty="0"/>
              <a:t>Supporting </a:t>
            </a:r>
            <a:r>
              <a:rPr lang="en-US" b="1" dirty="0" err="1"/>
              <a:t>TechnologiesCloud</a:t>
            </a:r>
            <a:r>
              <a:rPr lang="en-US" b="1" dirty="0"/>
              <a:t> Platform: </a:t>
            </a:r>
            <a:r>
              <a:rPr lang="en-US" dirty="0"/>
              <a:t>Hugging Face Spaces (hosting and execution environment).APIs: Hugging Face Inference API (used to send user prompts to a powerful remote LLM and receive the generated text). The application is likely consuming a Model as a </a:t>
            </a:r>
            <a:r>
              <a:rPr lang="en-US" dirty="0" err="1"/>
              <a:t>Service.Containerization</a:t>
            </a:r>
            <a:r>
              <a:rPr lang="en-US" dirty="0"/>
              <a:t>: The platform implicitly uses Docker to containerize and run the Python application based on the chosen SDK (</a:t>
            </a:r>
            <a:r>
              <a:rPr lang="en-US" dirty="0" err="1"/>
              <a:t>Gradio</a:t>
            </a:r>
            <a:r>
              <a:rPr lang="en-US" dirty="0"/>
              <a:t>/</a:t>
            </a:r>
            <a:r>
              <a:rPr lang="en-US" dirty="0" err="1"/>
              <a:t>Streamlit</a:t>
            </a:r>
            <a:r>
              <a:rPr lang="en-US" dirty="0"/>
              <a:t>).</a:t>
            </a:r>
            <a:endParaRPr lang="en-US" sz="1600" dirty="0"/>
          </a:p>
        </p:txBody>
      </p:sp>
    </p:spTree>
    <p:extLst>
      <p:ext uri="{BB962C8B-B14F-4D97-AF65-F5344CB8AC3E}">
        <p14:creationId xmlns:p14="http://schemas.microsoft.com/office/powerpoint/2010/main" val="3626036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3E9488B-0CD6-A03E-63E2-1F3647AE98E4}"/>
            </a:ext>
          </a:extLst>
        </p:cNvPr>
        <p:cNvGrpSpPr/>
        <p:nvPr/>
      </p:nvGrpSpPr>
      <p:grpSpPr>
        <a:xfrm>
          <a:off x="0" y="0"/>
          <a:ext cx="0" cy="0"/>
          <a:chOff x="0" y="0"/>
          <a:chExt cx="0" cy="0"/>
        </a:xfrm>
      </p:grpSpPr>
      <p:sp>
        <p:nvSpPr>
          <p:cNvPr id="105" name="Google Shape;105;p1">
            <a:extLst>
              <a:ext uri="{FF2B5EF4-FFF2-40B4-BE49-F238E27FC236}">
                <a16:creationId xmlns:a16="http://schemas.microsoft.com/office/drawing/2014/main" id="{210AACF7-A7A5-B26F-B989-BC0F86E08A82}"/>
              </a:ext>
            </a:extLst>
          </p:cNvPr>
          <p:cNvSpPr txBox="1">
            <a:spLocks noGrp="1"/>
          </p:cNvSpPr>
          <p:nvPr>
            <p:ph type="dt" idx="10"/>
          </p:nvPr>
        </p:nvSpPr>
        <p:spPr>
          <a:xfrm>
            <a:off x="838200" y="6356350"/>
            <a:ext cx="2743200" cy="365125"/>
          </a:xfrm>
          <a:noFill/>
          <a:ln>
            <a:noFill/>
          </a:ln>
        </p:spPr>
        <p:txBody>
          <a:bodyPr spcFirstLastPara="1" wrap="square" lIns="91425" tIns="45700" rIns="91425" bIns="45700" anchor="ctr" anchorCtr="0">
            <a:noAutofit/>
          </a:bodyPr>
          <a:lstStyle/>
          <a:p>
            <a:r>
              <a:rPr lang="en-US" dirty="0"/>
              <a:t>11/30/25</a:t>
            </a:r>
          </a:p>
        </p:txBody>
      </p:sp>
      <p:sp>
        <p:nvSpPr>
          <p:cNvPr id="107" name="Google Shape;107;p1">
            <a:extLst>
              <a:ext uri="{FF2B5EF4-FFF2-40B4-BE49-F238E27FC236}">
                <a16:creationId xmlns:a16="http://schemas.microsoft.com/office/drawing/2014/main" id="{3E14251E-EFDD-C003-E4AB-9622EBE366BC}"/>
              </a:ext>
            </a:extLst>
          </p:cNvPr>
          <p:cNvSpPr txBox="1">
            <a:spLocks noGrp="1"/>
          </p:cNvSpPr>
          <p:nvPr>
            <p:ph type="sldNum" idx="12"/>
          </p:nvPr>
        </p:nvSpPr>
        <p:spPr>
          <a:xfrm>
            <a:off x="8610600" y="6356350"/>
            <a:ext cx="2743200" cy="365125"/>
          </a:xfrm>
          <a:noFill/>
          <a:ln>
            <a:noFill/>
          </a:ln>
        </p:spPr>
        <p:txBody>
          <a:bodyPr spcFirstLastPara="1" wrap="square" lIns="91425" tIns="45700" rIns="91425" bIns="45700" anchor="ctr" anchorCtr="0">
            <a:noAutofit/>
          </a:bodyPr>
          <a:lstStyle/>
          <a:p>
            <a:pPr lvl="0"/>
            <a:fld id="{00000000-1234-1234-1234-123412341234}" type="slidenum">
              <a:rPr lang="en-US"/>
              <a:pPr lvl="0"/>
              <a:t>9</a:t>
            </a:fld>
            <a:endParaRPr lang="en-US"/>
          </a:p>
        </p:txBody>
      </p:sp>
      <p:pic>
        <p:nvPicPr>
          <p:cNvPr id="110" name="Google Shape;110;p1">
            <a:extLst>
              <a:ext uri="{FF2B5EF4-FFF2-40B4-BE49-F238E27FC236}">
                <a16:creationId xmlns:a16="http://schemas.microsoft.com/office/drawing/2014/main" id="{70A892DE-89FB-5405-F07F-762B6B286DFE}"/>
              </a:ext>
            </a:extLst>
          </p:cNvPr>
          <p:cNvPicPr preferRelativeResize="0"/>
          <p:nvPr/>
        </p:nvPicPr>
        <p:blipFill>
          <a:blip r:embed="rId3"/>
          <a:srcRect/>
          <a:stretch/>
        </p:blipFill>
        <p:spPr>
          <a:xfrm>
            <a:off x="9010943" y="6291124"/>
            <a:ext cx="1362250" cy="365125"/>
          </a:xfrm>
          <a:prstGeom prst="rect">
            <a:avLst/>
          </a:prstGeom>
          <a:noFill/>
          <a:ln>
            <a:noFill/>
          </a:ln>
        </p:spPr>
      </p:pic>
      <p:sp>
        <p:nvSpPr>
          <p:cNvPr id="6" name="Google Shape;109;p1">
            <a:extLst>
              <a:ext uri="{FF2B5EF4-FFF2-40B4-BE49-F238E27FC236}">
                <a16:creationId xmlns:a16="http://schemas.microsoft.com/office/drawing/2014/main" id="{726C0500-7EF8-37B0-0E3C-B1FDEA375EF5}"/>
              </a:ext>
            </a:extLst>
          </p:cNvPr>
          <p:cNvSpPr txBox="1"/>
          <p:nvPr/>
        </p:nvSpPr>
        <p:spPr>
          <a:xfrm>
            <a:off x="249986" y="1004486"/>
            <a:ext cx="11666135" cy="5260106"/>
          </a:xfrm>
          <a:prstGeom prst="rect">
            <a:avLst/>
          </a:prstGeom>
          <a:noFill/>
          <a:ln>
            <a:noFill/>
          </a:ln>
        </p:spPr>
        <p:txBody>
          <a:bodyPr spcFirstLastPara="1" wrap="square" lIns="91425" tIns="45700" rIns="91425" bIns="45700" anchor="t" anchorCtr="0">
            <a:noAutofit/>
          </a:bodyPr>
          <a:lstStyle/>
          <a:p>
            <a:r>
              <a:rPr lang="en-US" sz="2000" b="1" dirty="0">
                <a:solidFill>
                  <a:srgbClr val="0D0D0D"/>
                </a:solidFill>
              </a:rPr>
              <a:t>Key testing phases:</a:t>
            </a:r>
          </a:p>
          <a:p>
            <a:br>
              <a:rPr lang="en-US" dirty="0"/>
            </a:br>
            <a:r>
              <a:rPr lang="en-US" b="1" dirty="0"/>
              <a:t>AI Powered Creative writing assistant </a:t>
            </a:r>
            <a:r>
              <a:rPr lang="en-US" dirty="0"/>
              <a:t>is now live and giving the application purpose which is supporting writing purposes</a:t>
            </a:r>
            <a:r>
              <a:rPr lang="en-US" sz="1600" dirty="0"/>
              <a:t> after many testing phases</a:t>
            </a:r>
            <a:br>
              <a:rPr lang="en-US" sz="1600" dirty="0"/>
            </a:br>
            <a:br>
              <a:rPr lang="ar-EG" sz="1600" dirty="0"/>
            </a:br>
            <a:r>
              <a:rPr lang="en-US" b="1" dirty="0"/>
              <a:t>Unit Testing</a:t>
            </a:r>
          </a:p>
          <a:p>
            <a:r>
              <a:rPr lang="en-US" dirty="0"/>
              <a:t>Test individual functions and components.</a:t>
            </a:r>
          </a:p>
          <a:p>
            <a:r>
              <a:rPr lang="en-US" dirty="0"/>
              <a:t>prompt processing, model call function, UI elements, error handling.</a:t>
            </a:r>
            <a:br>
              <a:rPr lang="en-US" dirty="0"/>
            </a:br>
            <a:br>
              <a:rPr lang="en-US" dirty="0"/>
            </a:br>
            <a:r>
              <a:rPr lang="en-US" b="1" dirty="0"/>
              <a:t>Integration Testing</a:t>
            </a:r>
          </a:p>
          <a:p>
            <a:r>
              <a:rPr lang="en-US" dirty="0"/>
              <a:t>Test how components work together.</a:t>
            </a:r>
          </a:p>
          <a:p>
            <a:r>
              <a:rPr lang="en-US" dirty="0"/>
              <a:t>UI → model → output flow, model loading, API interactions, overall inference pipeline.</a:t>
            </a:r>
            <a:br>
              <a:rPr lang="en-US" dirty="0"/>
            </a:br>
            <a:endParaRPr lang="en-US" dirty="0"/>
          </a:p>
          <a:p>
            <a:r>
              <a:rPr lang="en-US" b="1" dirty="0"/>
              <a:t>User Testing</a:t>
            </a:r>
          </a:p>
          <a:p>
            <a:r>
              <a:rPr lang="en-US" dirty="0"/>
              <a:t>Test the full experience with real users.</a:t>
            </a:r>
          </a:p>
          <a:p>
            <a:r>
              <a:rPr lang="en-US" dirty="0"/>
              <a:t>usability, clarity, response quality, performance, ease of completing writing tasks.</a:t>
            </a:r>
            <a:br>
              <a:rPr lang="en-US" dirty="0"/>
            </a:br>
            <a:br>
              <a:rPr lang="en-US" dirty="0"/>
            </a:br>
            <a:endParaRPr lang="en-US" dirty="0"/>
          </a:p>
          <a:p>
            <a:endParaRPr lang="en-US" dirty="0"/>
          </a:p>
          <a:p>
            <a:endParaRPr lang="en-US" dirty="0"/>
          </a:p>
        </p:txBody>
      </p:sp>
      <p:graphicFrame>
        <p:nvGraphicFramePr>
          <p:cNvPr id="2" name="Table 1">
            <a:extLst>
              <a:ext uri="{FF2B5EF4-FFF2-40B4-BE49-F238E27FC236}">
                <a16:creationId xmlns:a16="http://schemas.microsoft.com/office/drawing/2014/main" id="{CCCD530A-D12F-EF47-910A-9AB2FAF9B9ED}"/>
              </a:ext>
            </a:extLst>
          </p:cNvPr>
          <p:cNvGraphicFramePr>
            <a:graphicFrameLocks noGrp="1"/>
          </p:cNvGraphicFramePr>
          <p:nvPr>
            <p:extLst>
              <p:ext uri="{D42A27DB-BD31-4B8C-83A1-F6EECF244321}">
                <p14:modId xmlns:p14="http://schemas.microsoft.com/office/powerpoint/2010/main" val="3086684563"/>
              </p:ext>
            </p:extLst>
          </p:nvPr>
        </p:nvGraphicFramePr>
        <p:xfrm>
          <a:off x="249986" y="4787444"/>
          <a:ext cx="11484813" cy="1432560"/>
        </p:xfrm>
        <a:graphic>
          <a:graphicData uri="http://schemas.openxmlformats.org/drawingml/2006/table">
            <a:tbl>
              <a:tblPr/>
              <a:tblGrid>
                <a:gridCol w="3828271">
                  <a:extLst>
                    <a:ext uri="{9D8B030D-6E8A-4147-A177-3AD203B41FA5}">
                      <a16:colId xmlns:a16="http://schemas.microsoft.com/office/drawing/2014/main" val="234579697"/>
                    </a:ext>
                  </a:extLst>
                </a:gridCol>
                <a:gridCol w="3828271">
                  <a:extLst>
                    <a:ext uri="{9D8B030D-6E8A-4147-A177-3AD203B41FA5}">
                      <a16:colId xmlns:a16="http://schemas.microsoft.com/office/drawing/2014/main" val="4191464572"/>
                    </a:ext>
                  </a:extLst>
                </a:gridCol>
                <a:gridCol w="3828271">
                  <a:extLst>
                    <a:ext uri="{9D8B030D-6E8A-4147-A177-3AD203B41FA5}">
                      <a16:colId xmlns:a16="http://schemas.microsoft.com/office/drawing/2014/main" val="1170293229"/>
                    </a:ext>
                  </a:extLst>
                </a:gridCol>
              </a:tblGrid>
              <a:tr h="0">
                <a:tc>
                  <a:txBody>
                    <a:bodyPr/>
                    <a:lstStyle/>
                    <a:p>
                      <a:pPr>
                        <a:buNone/>
                      </a:pPr>
                      <a:r>
                        <a:rPr lang="en-US" dirty="0"/>
                        <a:t>Testing Phase</a:t>
                      </a:r>
                    </a:p>
                  </a:txBody>
                  <a:tcPr anchor="ctr">
                    <a:lnL>
                      <a:noFill/>
                    </a:lnL>
                    <a:lnR>
                      <a:noFill/>
                    </a:lnR>
                    <a:lnT>
                      <a:noFill/>
                    </a:lnT>
                    <a:lnB>
                      <a:noFill/>
                    </a:lnB>
                    <a:noFill/>
                  </a:tcPr>
                </a:tc>
                <a:tc>
                  <a:txBody>
                    <a:bodyPr/>
                    <a:lstStyle/>
                    <a:p>
                      <a:pPr>
                        <a:buNone/>
                      </a:pPr>
                      <a:r>
                        <a:rPr lang="en-US"/>
                        <a:t>Purpose</a:t>
                      </a:r>
                    </a:p>
                  </a:txBody>
                  <a:tcPr anchor="ctr">
                    <a:lnL>
                      <a:noFill/>
                    </a:lnL>
                    <a:lnR>
                      <a:noFill/>
                    </a:lnR>
                    <a:lnT>
                      <a:noFill/>
                    </a:lnT>
                    <a:lnB>
                      <a:noFill/>
                    </a:lnB>
                    <a:noFill/>
                  </a:tcPr>
                </a:tc>
                <a:tc>
                  <a:txBody>
                    <a:bodyPr/>
                    <a:lstStyle/>
                    <a:p>
                      <a:pPr>
                        <a:buNone/>
                      </a:pPr>
                      <a:r>
                        <a:rPr lang="en-US"/>
                        <a:t>What is Tested</a:t>
                      </a:r>
                    </a:p>
                  </a:txBody>
                  <a:tcPr anchor="ctr">
                    <a:lnL>
                      <a:noFill/>
                    </a:lnL>
                    <a:lnR>
                      <a:noFill/>
                    </a:lnR>
                    <a:lnT>
                      <a:noFill/>
                    </a:lnT>
                    <a:lnB>
                      <a:noFill/>
                    </a:lnB>
                    <a:noFill/>
                  </a:tcPr>
                </a:tc>
                <a:extLst>
                  <a:ext uri="{0D108BD9-81ED-4DB2-BD59-A6C34878D82A}">
                    <a16:rowId xmlns:a16="http://schemas.microsoft.com/office/drawing/2014/main" val="1942115921"/>
                  </a:ext>
                </a:extLst>
              </a:tr>
              <a:tr h="0">
                <a:tc>
                  <a:txBody>
                    <a:bodyPr/>
                    <a:lstStyle/>
                    <a:p>
                      <a:pPr>
                        <a:buNone/>
                      </a:pPr>
                      <a:r>
                        <a:rPr lang="en-US" b="1" dirty="0"/>
                        <a:t>Unit Testing</a:t>
                      </a:r>
                      <a:endParaRPr lang="en-US" dirty="0"/>
                    </a:p>
                  </a:txBody>
                  <a:tcPr anchor="ctr">
                    <a:lnL>
                      <a:noFill/>
                    </a:lnL>
                    <a:lnR>
                      <a:noFill/>
                    </a:lnR>
                    <a:lnT>
                      <a:noFill/>
                    </a:lnT>
                    <a:lnB>
                      <a:noFill/>
                    </a:lnB>
                    <a:noFill/>
                  </a:tcPr>
                </a:tc>
                <a:tc>
                  <a:txBody>
                    <a:bodyPr/>
                    <a:lstStyle/>
                    <a:p>
                      <a:pPr>
                        <a:buNone/>
                      </a:pPr>
                      <a:r>
                        <a:rPr lang="en-US" dirty="0"/>
                        <a:t>Validate individual components</a:t>
                      </a:r>
                    </a:p>
                  </a:txBody>
                  <a:tcPr anchor="ctr">
                    <a:lnL>
                      <a:noFill/>
                    </a:lnL>
                    <a:lnR>
                      <a:noFill/>
                    </a:lnR>
                    <a:lnT>
                      <a:noFill/>
                    </a:lnT>
                    <a:lnB>
                      <a:noFill/>
                    </a:lnB>
                    <a:noFill/>
                  </a:tcPr>
                </a:tc>
                <a:tc>
                  <a:txBody>
                    <a:bodyPr/>
                    <a:lstStyle/>
                    <a:p>
                      <a:pPr>
                        <a:buNone/>
                      </a:pPr>
                      <a:r>
                        <a:rPr lang="en-US"/>
                        <a:t>Functions, UI elements, text-processing logic</a:t>
                      </a:r>
                    </a:p>
                  </a:txBody>
                  <a:tcPr anchor="ctr">
                    <a:lnL>
                      <a:noFill/>
                    </a:lnL>
                    <a:lnR>
                      <a:noFill/>
                    </a:lnR>
                    <a:lnT>
                      <a:noFill/>
                    </a:lnT>
                    <a:lnB>
                      <a:noFill/>
                    </a:lnB>
                    <a:noFill/>
                  </a:tcPr>
                </a:tc>
                <a:extLst>
                  <a:ext uri="{0D108BD9-81ED-4DB2-BD59-A6C34878D82A}">
                    <a16:rowId xmlns:a16="http://schemas.microsoft.com/office/drawing/2014/main" val="882058930"/>
                  </a:ext>
                </a:extLst>
              </a:tr>
              <a:tr h="0">
                <a:tc>
                  <a:txBody>
                    <a:bodyPr/>
                    <a:lstStyle/>
                    <a:p>
                      <a:pPr>
                        <a:buNone/>
                      </a:pPr>
                      <a:r>
                        <a:rPr lang="en-US" b="1" dirty="0"/>
                        <a:t>Integration Testing</a:t>
                      </a:r>
                      <a:endParaRPr lang="en-US" dirty="0"/>
                    </a:p>
                  </a:txBody>
                  <a:tcPr anchor="ctr">
                    <a:lnL>
                      <a:noFill/>
                    </a:lnL>
                    <a:lnR>
                      <a:noFill/>
                    </a:lnR>
                    <a:lnT>
                      <a:noFill/>
                    </a:lnT>
                    <a:lnB>
                      <a:noFill/>
                    </a:lnB>
                    <a:noFill/>
                  </a:tcPr>
                </a:tc>
                <a:tc>
                  <a:txBody>
                    <a:bodyPr/>
                    <a:lstStyle/>
                    <a:p>
                      <a:pPr>
                        <a:buNone/>
                      </a:pPr>
                      <a:r>
                        <a:rPr lang="en-US"/>
                        <a:t>Ensure components work together</a:t>
                      </a:r>
                    </a:p>
                  </a:txBody>
                  <a:tcPr anchor="ctr">
                    <a:lnL>
                      <a:noFill/>
                    </a:lnL>
                    <a:lnR>
                      <a:noFill/>
                    </a:lnR>
                    <a:lnT>
                      <a:noFill/>
                    </a:lnT>
                    <a:lnB>
                      <a:noFill/>
                    </a:lnB>
                    <a:noFill/>
                  </a:tcPr>
                </a:tc>
                <a:tc>
                  <a:txBody>
                    <a:bodyPr/>
                    <a:lstStyle/>
                    <a:p>
                      <a:pPr>
                        <a:buNone/>
                      </a:pPr>
                      <a:r>
                        <a:rPr lang="en-US"/>
                        <a:t>UI ↔ model interaction, backend inference, environment setup</a:t>
                      </a:r>
                    </a:p>
                  </a:txBody>
                  <a:tcPr anchor="ctr">
                    <a:lnL>
                      <a:noFill/>
                    </a:lnL>
                    <a:lnR>
                      <a:noFill/>
                    </a:lnR>
                    <a:lnT>
                      <a:noFill/>
                    </a:lnT>
                    <a:lnB>
                      <a:noFill/>
                    </a:lnB>
                    <a:noFill/>
                  </a:tcPr>
                </a:tc>
                <a:extLst>
                  <a:ext uri="{0D108BD9-81ED-4DB2-BD59-A6C34878D82A}">
                    <a16:rowId xmlns:a16="http://schemas.microsoft.com/office/drawing/2014/main" val="3372117958"/>
                  </a:ext>
                </a:extLst>
              </a:tr>
              <a:tr h="0">
                <a:tc>
                  <a:txBody>
                    <a:bodyPr/>
                    <a:lstStyle/>
                    <a:p>
                      <a:pPr>
                        <a:buNone/>
                      </a:pPr>
                      <a:r>
                        <a:rPr lang="en-US" b="1"/>
                        <a:t>User Testing</a:t>
                      </a:r>
                      <a:endParaRPr lang="en-US"/>
                    </a:p>
                  </a:txBody>
                  <a:tcPr anchor="ctr">
                    <a:lnL>
                      <a:noFill/>
                    </a:lnL>
                    <a:lnR>
                      <a:noFill/>
                    </a:lnR>
                    <a:lnT>
                      <a:noFill/>
                    </a:lnT>
                    <a:lnB>
                      <a:noFill/>
                    </a:lnB>
                    <a:noFill/>
                  </a:tcPr>
                </a:tc>
                <a:tc>
                  <a:txBody>
                    <a:bodyPr/>
                    <a:lstStyle/>
                    <a:p>
                      <a:pPr>
                        <a:buNone/>
                      </a:pPr>
                      <a:r>
                        <a:rPr lang="en-US"/>
                        <a:t>Evaluate real-world usability &amp; output quality</a:t>
                      </a:r>
                    </a:p>
                  </a:txBody>
                  <a:tcPr anchor="ctr">
                    <a:lnL>
                      <a:noFill/>
                    </a:lnL>
                    <a:lnR>
                      <a:noFill/>
                    </a:lnR>
                    <a:lnT>
                      <a:noFill/>
                    </a:lnT>
                    <a:lnB>
                      <a:noFill/>
                    </a:lnB>
                    <a:noFill/>
                  </a:tcPr>
                </a:tc>
                <a:tc>
                  <a:txBody>
                    <a:bodyPr/>
                    <a:lstStyle/>
                    <a:p>
                      <a:pPr>
                        <a:buNone/>
                      </a:pPr>
                      <a:r>
                        <a:rPr lang="en-US" dirty="0"/>
                        <a:t>User flow, clarity, content quality, performance</a:t>
                      </a:r>
                    </a:p>
                  </a:txBody>
                  <a:tcPr anchor="ctr">
                    <a:lnL>
                      <a:noFill/>
                    </a:lnL>
                    <a:lnR>
                      <a:noFill/>
                    </a:lnR>
                    <a:lnT>
                      <a:noFill/>
                    </a:lnT>
                    <a:lnB>
                      <a:noFill/>
                    </a:lnB>
                    <a:noFill/>
                  </a:tcPr>
                </a:tc>
                <a:extLst>
                  <a:ext uri="{0D108BD9-81ED-4DB2-BD59-A6C34878D82A}">
                    <a16:rowId xmlns:a16="http://schemas.microsoft.com/office/drawing/2014/main" val="3635155192"/>
                  </a:ext>
                </a:extLst>
              </a:tr>
            </a:tbl>
          </a:graphicData>
        </a:graphic>
      </p:graphicFrame>
    </p:spTree>
    <p:extLst>
      <p:ext uri="{BB962C8B-B14F-4D97-AF65-F5344CB8AC3E}">
        <p14:creationId xmlns:p14="http://schemas.microsoft.com/office/powerpoint/2010/main" val="12770764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C5448FB-7B79-7460-9D95-68E3EB39DE05}"/>
            </a:ext>
          </a:extLst>
        </p:cNvPr>
        <p:cNvGrpSpPr/>
        <p:nvPr/>
      </p:nvGrpSpPr>
      <p:grpSpPr>
        <a:xfrm>
          <a:off x="0" y="0"/>
          <a:ext cx="0" cy="0"/>
          <a:chOff x="0" y="0"/>
          <a:chExt cx="0" cy="0"/>
        </a:xfrm>
      </p:grpSpPr>
      <p:sp>
        <p:nvSpPr>
          <p:cNvPr id="105" name="Google Shape;105;p1">
            <a:extLst>
              <a:ext uri="{FF2B5EF4-FFF2-40B4-BE49-F238E27FC236}">
                <a16:creationId xmlns:a16="http://schemas.microsoft.com/office/drawing/2014/main" id="{A7C3AC76-5CAD-F4F0-8796-0623FAA4919C}"/>
              </a:ext>
            </a:extLst>
          </p:cNvPr>
          <p:cNvSpPr txBox="1">
            <a:spLocks noGrp="1"/>
          </p:cNvSpPr>
          <p:nvPr>
            <p:ph type="dt" idx="10"/>
          </p:nvPr>
        </p:nvSpPr>
        <p:spPr>
          <a:xfrm>
            <a:off x="838200" y="6356350"/>
            <a:ext cx="2743200" cy="365125"/>
          </a:xfrm>
          <a:noFill/>
          <a:ln>
            <a:noFill/>
          </a:ln>
        </p:spPr>
        <p:txBody>
          <a:bodyPr spcFirstLastPara="1" wrap="square" lIns="91425" tIns="45700" rIns="91425" bIns="45700" anchor="ctr" anchorCtr="0">
            <a:noAutofit/>
          </a:bodyPr>
          <a:lstStyle/>
          <a:p>
            <a:r>
              <a:rPr lang="en-US" dirty="0"/>
              <a:t>11/30/25</a:t>
            </a:r>
          </a:p>
        </p:txBody>
      </p:sp>
      <p:sp>
        <p:nvSpPr>
          <p:cNvPr id="107" name="Google Shape;107;p1">
            <a:extLst>
              <a:ext uri="{FF2B5EF4-FFF2-40B4-BE49-F238E27FC236}">
                <a16:creationId xmlns:a16="http://schemas.microsoft.com/office/drawing/2014/main" id="{B85558F9-78E8-8554-2E8A-BA2AC1D04761}"/>
              </a:ext>
            </a:extLst>
          </p:cNvPr>
          <p:cNvSpPr txBox="1">
            <a:spLocks noGrp="1"/>
          </p:cNvSpPr>
          <p:nvPr>
            <p:ph type="sldNum" idx="12"/>
          </p:nvPr>
        </p:nvSpPr>
        <p:spPr>
          <a:xfrm>
            <a:off x="8610600" y="6356350"/>
            <a:ext cx="2743200" cy="365125"/>
          </a:xfrm>
          <a:noFill/>
          <a:ln>
            <a:noFill/>
          </a:ln>
        </p:spPr>
        <p:txBody>
          <a:bodyPr spcFirstLastPara="1" wrap="square" lIns="91425" tIns="45700" rIns="91425" bIns="45700" anchor="ctr" anchorCtr="0">
            <a:noAutofit/>
          </a:bodyPr>
          <a:lstStyle/>
          <a:p>
            <a:pPr lvl="0"/>
            <a:fld id="{00000000-1234-1234-1234-123412341234}" type="slidenum">
              <a:rPr lang="en-US"/>
              <a:pPr lvl="0"/>
              <a:t>10</a:t>
            </a:fld>
            <a:endParaRPr lang="en-US"/>
          </a:p>
        </p:txBody>
      </p:sp>
      <p:pic>
        <p:nvPicPr>
          <p:cNvPr id="110" name="Google Shape;110;p1">
            <a:extLst>
              <a:ext uri="{FF2B5EF4-FFF2-40B4-BE49-F238E27FC236}">
                <a16:creationId xmlns:a16="http://schemas.microsoft.com/office/drawing/2014/main" id="{6108BB8E-5386-F92C-8D8C-4732234C0D9F}"/>
              </a:ext>
            </a:extLst>
          </p:cNvPr>
          <p:cNvPicPr preferRelativeResize="0"/>
          <p:nvPr/>
        </p:nvPicPr>
        <p:blipFill>
          <a:blip r:embed="rId3"/>
          <a:srcRect/>
          <a:stretch/>
        </p:blipFill>
        <p:spPr>
          <a:xfrm>
            <a:off x="9010943" y="6291124"/>
            <a:ext cx="1362250" cy="365125"/>
          </a:xfrm>
          <a:prstGeom prst="rect">
            <a:avLst/>
          </a:prstGeom>
          <a:noFill/>
          <a:ln>
            <a:noFill/>
          </a:ln>
        </p:spPr>
      </p:pic>
      <p:sp>
        <p:nvSpPr>
          <p:cNvPr id="6" name="Google Shape;109;p1">
            <a:extLst>
              <a:ext uri="{FF2B5EF4-FFF2-40B4-BE49-F238E27FC236}">
                <a16:creationId xmlns:a16="http://schemas.microsoft.com/office/drawing/2014/main" id="{153EC586-1381-15FC-5C15-63BDB98227D1}"/>
              </a:ext>
            </a:extLst>
          </p:cNvPr>
          <p:cNvSpPr txBox="1"/>
          <p:nvPr/>
        </p:nvSpPr>
        <p:spPr>
          <a:xfrm>
            <a:off x="249986" y="1004486"/>
            <a:ext cx="11666135" cy="5260106"/>
          </a:xfrm>
          <a:prstGeom prst="rect">
            <a:avLst/>
          </a:prstGeom>
          <a:noFill/>
          <a:ln>
            <a:noFill/>
          </a:ln>
        </p:spPr>
        <p:txBody>
          <a:bodyPr spcFirstLastPara="1" wrap="square" lIns="91425" tIns="45700" rIns="91425" bIns="45700" anchor="t" anchorCtr="0">
            <a:noAutofit/>
          </a:bodyPr>
          <a:lstStyle/>
          <a:p>
            <a:r>
              <a:rPr lang="en-US" sz="2000" b="1" dirty="0">
                <a:solidFill>
                  <a:srgbClr val="0D0D0D"/>
                </a:solidFill>
              </a:rPr>
              <a:t>Deliverables:</a:t>
            </a:r>
          </a:p>
          <a:p>
            <a:br>
              <a:rPr lang="en-US" dirty="0"/>
            </a:br>
            <a:r>
              <a:rPr lang="en-US" b="1" dirty="0"/>
              <a:t>User Manual:</a:t>
            </a:r>
            <a:endParaRPr lang="en-US" dirty="0"/>
          </a:p>
          <a:p>
            <a:endParaRPr lang="en-US" dirty="0"/>
          </a:p>
          <a:p>
            <a:r>
              <a:rPr lang="en-US" b="1" dirty="0"/>
              <a:t>- Introduction</a:t>
            </a:r>
          </a:p>
          <a:p>
            <a:r>
              <a:rPr lang="en-US" dirty="0"/>
              <a:t>The Creative Writing Assistant is an AI-powered tool that helps users generate, improve, and explore creative writing.</a:t>
            </a:r>
            <a:br>
              <a:rPr lang="en-US" dirty="0"/>
            </a:br>
            <a:r>
              <a:rPr lang="en-US" dirty="0"/>
              <a:t>You can write stories, expand ideas, rewrite paragraphs, or brainstorm new concepts by simply entering prompts.</a:t>
            </a:r>
          </a:p>
          <a:p>
            <a:r>
              <a:rPr lang="en-US" b="1" dirty="0"/>
              <a:t>- Accessing the Application</a:t>
            </a:r>
          </a:p>
          <a:p>
            <a:r>
              <a:rPr lang="en-US" dirty="0"/>
              <a:t>Go to the Hugging Face Space:</a:t>
            </a:r>
            <a:br>
              <a:rPr lang="en-US" dirty="0"/>
            </a:br>
            <a:r>
              <a:rPr lang="en-US" dirty="0"/>
              <a:t>Creative Writing Assistant (https://huggingface.co/spaces/Fatma5shawqy/creative-writing-assistant).</a:t>
            </a:r>
          </a:p>
          <a:p>
            <a:r>
              <a:rPr lang="en-US" dirty="0"/>
              <a:t>Wait for the app to load (a “Running” badge indicates it is ready).</a:t>
            </a:r>
            <a:br>
              <a:rPr lang="en-US" dirty="0"/>
            </a:br>
            <a:r>
              <a:rPr lang="en-US" dirty="0"/>
              <a:t>- </a:t>
            </a:r>
            <a:r>
              <a:rPr lang="en-US" b="1" dirty="0"/>
              <a:t>Interface Overview</a:t>
            </a:r>
          </a:p>
          <a:p>
            <a:r>
              <a:rPr lang="en-US" dirty="0"/>
              <a:t>The interface typically includes:</a:t>
            </a:r>
          </a:p>
          <a:p>
            <a:r>
              <a:rPr lang="en-US" dirty="0"/>
              <a:t>Text Input Box – where you write your prompt or paste text.</a:t>
            </a:r>
          </a:p>
          <a:p>
            <a:r>
              <a:rPr lang="en-US" dirty="0"/>
              <a:t>Generate / Submit Button – sends your request to the AI model.</a:t>
            </a:r>
          </a:p>
          <a:p>
            <a:r>
              <a:rPr lang="en-US" dirty="0"/>
              <a:t>Output Area – displays AI-generated results.</a:t>
            </a:r>
            <a:br>
              <a:rPr lang="en-US" dirty="0"/>
            </a:br>
            <a:endParaRPr lang="en-US" dirty="0"/>
          </a:p>
          <a:p>
            <a:endParaRPr lang="en-US" dirty="0"/>
          </a:p>
          <a:p>
            <a:endParaRPr lang="en-US" dirty="0"/>
          </a:p>
        </p:txBody>
      </p:sp>
    </p:spTree>
    <p:extLst>
      <p:ext uri="{BB962C8B-B14F-4D97-AF65-F5344CB8AC3E}">
        <p14:creationId xmlns:p14="http://schemas.microsoft.com/office/powerpoint/2010/main" val="169979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86B8DA2-2DB8-83B4-32F4-4ABA8566FF08}"/>
            </a:ext>
          </a:extLst>
        </p:cNvPr>
        <p:cNvGrpSpPr/>
        <p:nvPr/>
      </p:nvGrpSpPr>
      <p:grpSpPr>
        <a:xfrm>
          <a:off x="0" y="0"/>
          <a:ext cx="0" cy="0"/>
          <a:chOff x="0" y="0"/>
          <a:chExt cx="0" cy="0"/>
        </a:xfrm>
      </p:grpSpPr>
      <p:sp>
        <p:nvSpPr>
          <p:cNvPr id="105" name="Google Shape;105;p1">
            <a:extLst>
              <a:ext uri="{FF2B5EF4-FFF2-40B4-BE49-F238E27FC236}">
                <a16:creationId xmlns:a16="http://schemas.microsoft.com/office/drawing/2014/main" id="{53CAF24F-585D-B139-2301-64E91723DCDC}"/>
              </a:ext>
            </a:extLst>
          </p:cNvPr>
          <p:cNvSpPr txBox="1">
            <a:spLocks noGrp="1"/>
          </p:cNvSpPr>
          <p:nvPr>
            <p:ph type="dt" idx="10"/>
          </p:nvPr>
        </p:nvSpPr>
        <p:spPr>
          <a:xfrm>
            <a:off x="838200" y="6356350"/>
            <a:ext cx="2743200" cy="365125"/>
          </a:xfrm>
          <a:noFill/>
          <a:ln>
            <a:noFill/>
          </a:ln>
        </p:spPr>
        <p:txBody>
          <a:bodyPr spcFirstLastPara="1" wrap="square" lIns="91425" tIns="45700" rIns="91425" bIns="45700" anchor="ctr" anchorCtr="0">
            <a:noAutofit/>
          </a:bodyPr>
          <a:lstStyle/>
          <a:p>
            <a:r>
              <a:rPr lang="en-US" dirty="0"/>
              <a:t>11/30/25</a:t>
            </a:r>
          </a:p>
        </p:txBody>
      </p:sp>
      <p:sp>
        <p:nvSpPr>
          <p:cNvPr id="107" name="Google Shape;107;p1">
            <a:extLst>
              <a:ext uri="{FF2B5EF4-FFF2-40B4-BE49-F238E27FC236}">
                <a16:creationId xmlns:a16="http://schemas.microsoft.com/office/drawing/2014/main" id="{8F4D0A93-BF40-D3B3-D43A-9212773155EA}"/>
              </a:ext>
            </a:extLst>
          </p:cNvPr>
          <p:cNvSpPr txBox="1">
            <a:spLocks noGrp="1"/>
          </p:cNvSpPr>
          <p:nvPr>
            <p:ph type="sldNum" idx="12"/>
          </p:nvPr>
        </p:nvSpPr>
        <p:spPr>
          <a:xfrm>
            <a:off x="8610600" y="6356350"/>
            <a:ext cx="2743200" cy="365125"/>
          </a:xfrm>
          <a:noFill/>
          <a:ln>
            <a:noFill/>
          </a:ln>
        </p:spPr>
        <p:txBody>
          <a:bodyPr spcFirstLastPara="1" wrap="square" lIns="91425" tIns="45700" rIns="91425" bIns="45700" anchor="ctr" anchorCtr="0">
            <a:noAutofit/>
          </a:bodyPr>
          <a:lstStyle/>
          <a:p>
            <a:pPr lvl="0"/>
            <a:fld id="{00000000-1234-1234-1234-123412341234}" type="slidenum">
              <a:rPr lang="en-US"/>
              <a:pPr lvl="0"/>
              <a:t>11</a:t>
            </a:fld>
            <a:endParaRPr lang="en-US"/>
          </a:p>
        </p:txBody>
      </p:sp>
      <p:pic>
        <p:nvPicPr>
          <p:cNvPr id="110" name="Google Shape;110;p1">
            <a:extLst>
              <a:ext uri="{FF2B5EF4-FFF2-40B4-BE49-F238E27FC236}">
                <a16:creationId xmlns:a16="http://schemas.microsoft.com/office/drawing/2014/main" id="{7203597B-97D6-928B-634D-5C0349720C14}"/>
              </a:ext>
            </a:extLst>
          </p:cNvPr>
          <p:cNvPicPr preferRelativeResize="0"/>
          <p:nvPr/>
        </p:nvPicPr>
        <p:blipFill>
          <a:blip r:embed="rId3"/>
          <a:srcRect/>
          <a:stretch/>
        </p:blipFill>
        <p:spPr>
          <a:xfrm>
            <a:off x="9010943" y="6291124"/>
            <a:ext cx="1362250" cy="365125"/>
          </a:xfrm>
          <a:prstGeom prst="rect">
            <a:avLst/>
          </a:prstGeom>
          <a:noFill/>
          <a:ln>
            <a:noFill/>
          </a:ln>
        </p:spPr>
      </p:pic>
      <p:sp>
        <p:nvSpPr>
          <p:cNvPr id="6" name="Google Shape;109;p1">
            <a:extLst>
              <a:ext uri="{FF2B5EF4-FFF2-40B4-BE49-F238E27FC236}">
                <a16:creationId xmlns:a16="http://schemas.microsoft.com/office/drawing/2014/main" id="{996B8C09-3575-01BC-F6FB-76CC55377FBA}"/>
              </a:ext>
            </a:extLst>
          </p:cNvPr>
          <p:cNvSpPr txBox="1"/>
          <p:nvPr/>
        </p:nvSpPr>
        <p:spPr>
          <a:xfrm>
            <a:off x="249986" y="1126406"/>
            <a:ext cx="11666135" cy="5260106"/>
          </a:xfrm>
          <a:prstGeom prst="rect">
            <a:avLst/>
          </a:prstGeom>
          <a:noFill/>
          <a:ln>
            <a:noFill/>
          </a:ln>
        </p:spPr>
        <p:txBody>
          <a:bodyPr spcFirstLastPara="1" wrap="square" lIns="91425" tIns="45700" rIns="91425" bIns="45700" anchor="t" anchorCtr="0">
            <a:noAutofit/>
          </a:bodyPr>
          <a:lstStyle/>
          <a:p>
            <a:r>
              <a:rPr lang="en-US" sz="1800" b="1" dirty="0"/>
              <a:t>Timeline For Deliverables:</a:t>
            </a:r>
          </a:p>
          <a:p>
            <a:endParaRPr lang="en-US" dirty="0"/>
          </a:p>
          <a:p>
            <a:endParaRPr lang="en-US" dirty="0"/>
          </a:p>
          <a:p>
            <a:endParaRPr lang="en-US" dirty="0"/>
          </a:p>
          <a:p>
            <a:endParaRPr lang="en-US" dirty="0"/>
          </a:p>
        </p:txBody>
      </p:sp>
      <p:graphicFrame>
        <p:nvGraphicFramePr>
          <p:cNvPr id="2" name="Table 1">
            <a:extLst>
              <a:ext uri="{FF2B5EF4-FFF2-40B4-BE49-F238E27FC236}">
                <a16:creationId xmlns:a16="http://schemas.microsoft.com/office/drawing/2014/main" id="{47C1B2C1-D59E-DA45-228C-E8D35B9AB297}"/>
              </a:ext>
            </a:extLst>
          </p:cNvPr>
          <p:cNvGraphicFramePr>
            <a:graphicFrameLocks noGrp="1"/>
          </p:cNvGraphicFramePr>
          <p:nvPr>
            <p:extLst>
              <p:ext uri="{D42A27DB-BD31-4B8C-83A1-F6EECF244321}">
                <p14:modId xmlns:p14="http://schemas.microsoft.com/office/powerpoint/2010/main" val="1385172363"/>
              </p:ext>
            </p:extLst>
          </p:nvPr>
        </p:nvGraphicFramePr>
        <p:xfrm>
          <a:off x="249986" y="1643178"/>
          <a:ext cx="11474655" cy="4330900"/>
        </p:xfrm>
        <a:graphic>
          <a:graphicData uri="http://schemas.openxmlformats.org/drawingml/2006/table">
            <a:tbl>
              <a:tblPr/>
              <a:tblGrid>
                <a:gridCol w="3824885">
                  <a:extLst>
                    <a:ext uri="{9D8B030D-6E8A-4147-A177-3AD203B41FA5}">
                      <a16:colId xmlns:a16="http://schemas.microsoft.com/office/drawing/2014/main" val="4107741924"/>
                    </a:ext>
                  </a:extLst>
                </a:gridCol>
                <a:gridCol w="3824885">
                  <a:extLst>
                    <a:ext uri="{9D8B030D-6E8A-4147-A177-3AD203B41FA5}">
                      <a16:colId xmlns:a16="http://schemas.microsoft.com/office/drawing/2014/main" val="1916221679"/>
                    </a:ext>
                  </a:extLst>
                </a:gridCol>
                <a:gridCol w="3824885">
                  <a:extLst>
                    <a:ext uri="{9D8B030D-6E8A-4147-A177-3AD203B41FA5}">
                      <a16:colId xmlns:a16="http://schemas.microsoft.com/office/drawing/2014/main" val="107090339"/>
                    </a:ext>
                  </a:extLst>
                </a:gridCol>
              </a:tblGrid>
              <a:tr h="354992">
                <a:tc>
                  <a:txBody>
                    <a:bodyPr/>
                    <a:lstStyle/>
                    <a:p>
                      <a:pPr>
                        <a:buNone/>
                      </a:pPr>
                      <a:r>
                        <a:rPr lang="en-US" dirty="0"/>
                        <a:t>Week</a:t>
                      </a:r>
                    </a:p>
                  </a:txBody>
                  <a:tcPr anchor="ctr">
                    <a:lnL>
                      <a:noFill/>
                    </a:lnL>
                    <a:lnR>
                      <a:noFill/>
                    </a:lnR>
                    <a:lnT>
                      <a:noFill/>
                    </a:lnT>
                    <a:lnB>
                      <a:noFill/>
                    </a:lnB>
                    <a:noFill/>
                  </a:tcPr>
                </a:tc>
                <a:tc>
                  <a:txBody>
                    <a:bodyPr/>
                    <a:lstStyle/>
                    <a:p>
                      <a:pPr>
                        <a:buNone/>
                      </a:pPr>
                      <a:r>
                        <a:rPr lang="en-US"/>
                        <a:t>Phase</a:t>
                      </a:r>
                    </a:p>
                  </a:txBody>
                  <a:tcPr anchor="ctr">
                    <a:lnL>
                      <a:noFill/>
                    </a:lnL>
                    <a:lnR>
                      <a:noFill/>
                    </a:lnR>
                    <a:lnT>
                      <a:noFill/>
                    </a:lnT>
                    <a:lnB>
                      <a:noFill/>
                    </a:lnB>
                    <a:noFill/>
                  </a:tcPr>
                </a:tc>
                <a:tc>
                  <a:txBody>
                    <a:bodyPr/>
                    <a:lstStyle/>
                    <a:p>
                      <a:pPr>
                        <a:buNone/>
                      </a:pPr>
                      <a:r>
                        <a:rPr lang="en-US"/>
                        <a:t>Description</a:t>
                      </a:r>
                    </a:p>
                  </a:txBody>
                  <a:tcPr anchor="ctr">
                    <a:lnL>
                      <a:noFill/>
                    </a:lnL>
                    <a:lnR>
                      <a:noFill/>
                    </a:lnR>
                    <a:lnT>
                      <a:noFill/>
                    </a:lnT>
                    <a:lnB>
                      <a:noFill/>
                    </a:lnB>
                    <a:noFill/>
                  </a:tcPr>
                </a:tc>
                <a:extLst>
                  <a:ext uri="{0D108BD9-81ED-4DB2-BD59-A6C34878D82A}">
                    <a16:rowId xmlns:a16="http://schemas.microsoft.com/office/drawing/2014/main" val="1510603994"/>
                  </a:ext>
                </a:extLst>
              </a:tr>
              <a:tr h="603486">
                <a:tc>
                  <a:txBody>
                    <a:bodyPr/>
                    <a:lstStyle/>
                    <a:p>
                      <a:pPr>
                        <a:buNone/>
                      </a:pPr>
                      <a:r>
                        <a:rPr lang="en-US" dirty="0"/>
                        <a:t>Week 1</a:t>
                      </a:r>
                    </a:p>
                  </a:txBody>
                  <a:tcPr anchor="ctr">
                    <a:lnL>
                      <a:noFill/>
                    </a:lnL>
                    <a:lnR>
                      <a:noFill/>
                    </a:lnR>
                    <a:lnT>
                      <a:noFill/>
                    </a:lnT>
                    <a:lnB>
                      <a:noFill/>
                    </a:lnB>
                    <a:noFill/>
                  </a:tcPr>
                </a:tc>
                <a:tc>
                  <a:txBody>
                    <a:bodyPr/>
                    <a:lstStyle/>
                    <a:p>
                      <a:pPr>
                        <a:buNone/>
                      </a:pPr>
                      <a:r>
                        <a:rPr lang="en-US" b="1"/>
                        <a:t>Planning</a:t>
                      </a:r>
                      <a:endParaRPr lang="en-US"/>
                    </a:p>
                  </a:txBody>
                  <a:tcPr anchor="ctr">
                    <a:lnL>
                      <a:noFill/>
                    </a:lnL>
                    <a:lnR>
                      <a:noFill/>
                    </a:lnR>
                    <a:lnT>
                      <a:noFill/>
                    </a:lnT>
                    <a:lnB>
                      <a:noFill/>
                    </a:lnB>
                    <a:noFill/>
                  </a:tcPr>
                </a:tc>
                <a:tc>
                  <a:txBody>
                    <a:bodyPr/>
                    <a:lstStyle/>
                    <a:p>
                      <a:pPr>
                        <a:buNone/>
                      </a:pPr>
                      <a:r>
                        <a:rPr lang="en-US"/>
                        <a:t>Define requirements, user journey, and architecture</a:t>
                      </a:r>
                    </a:p>
                  </a:txBody>
                  <a:tcPr anchor="ctr">
                    <a:lnL>
                      <a:noFill/>
                    </a:lnL>
                    <a:lnR>
                      <a:noFill/>
                    </a:lnR>
                    <a:lnT>
                      <a:noFill/>
                    </a:lnT>
                    <a:lnB>
                      <a:noFill/>
                    </a:lnB>
                    <a:noFill/>
                  </a:tcPr>
                </a:tc>
                <a:extLst>
                  <a:ext uri="{0D108BD9-81ED-4DB2-BD59-A6C34878D82A}">
                    <a16:rowId xmlns:a16="http://schemas.microsoft.com/office/drawing/2014/main" val="2244289721"/>
                  </a:ext>
                </a:extLst>
              </a:tr>
              <a:tr h="603486">
                <a:tc>
                  <a:txBody>
                    <a:bodyPr/>
                    <a:lstStyle/>
                    <a:p>
                      <a:pPr>
                        <a:buNone/>
                      </a:pPr>
                      <a:r>
                        <a:rPr lang="en-US" dirty="0"/>
                        <a:t>Week 2</a:t>
                      </a:r>
                    </a:p>
                  </a:txBody>
                  <a:tcPr anchor="ctr">
                    <a:lnL>
                      <a:noFill/>
                    </a:lnL>
                    <a:lnR>
                      <a:noFill/>
                    </a:lnR>
                    <a:lnT>
                      <a:noFill/>
                    </a:lnT>
                    <a:lnB>
                      <a:noFill/>
                    </a:lnB>
                    <a:noFill/>
                  </a:tcPr>
                </a:tc>
                <a:tc>
                  <a:txBody>
                    <a:bodyPr/>
                    <a:lstStyle/>
                    <a:p>
                      <a:pPr>
                        <a:buNone/>
                      </a:pPr>
                      <a:r>
                        <a:rPr lang="en-US" b="1"/>
                        <a:t>Design</a:t>
                      </a:r>
                      <a:endParaRPr lang="en-US"/>
                    </a:p>
                  </a:txBody>
                  <a:tcPr anchor="ctr">
                    <a:lnL>
                      <a:noFill/>
                    </a:lnL>
                    <a:lnR>
                      <a:noFill/>
                    </a:lnR>
                    <a:lnT>
                      <a:noFill/>
                    </a:lnT>
                    <a:lnB>
                      <a:noFill/>
                    </a:lnB>
                    <a:noFill/>
                  </a:tcPr>
                </a:tc>
                <a:tc>
                  <a:txBody>
                    <a:bodyPr/>
                    <a:lstStyle/>
                    <a:p>
                      <a:pPr>
                        <a:buNone/>
                      </a:pPr>
                      <a:r>
                        <a:rPr lang="en-US"/>
                        <a:t>Create UI/UX wireframes and technical design</a:t>
                      </a:r>
                    </a:p>
                  </a:txBody>
                  <a:tcPr anchor="ctr">
                    <a:lnL>
                      <a:noFill/>
                    </a:lnL>
                    <a:lnR>
                      <a:noFill/>
                    </a:lnR>
                    <a:lnT>
                      <a:noFill/>
                    </a:lnT>
                    <a:lnB>
                      <a:noFill/>
                    </a:lnB>
                    <a:noFill/>
                  </a:tcPr>
                </a:tc>
                <a:extLst>
                  <a:ext uri="{0D108BD9-81ED-4DB2-BD59-A6C34878D82A}">
                    <a16:rowId xmlns:a16="http://schemas.microsoft.com/office/drawing/2014/main" val="1290001295"/>
                  </a:ext>
                </a:extLst>
              </a:tr>
              <a:tr h="603486">
                <a:tc>
                  <a:txBody>
                    <a:bodyPr/>
                    <a:lstStyle/>
                    <a:p>
                      <a:pPr>
                        <a:buNone/>
                      </a:pPr>
                      <a:r>
                        <a:rPr lang="en-US"/>
                        <a:t>Weeks 3–4</a:t>
                      </a:r>
                    </a:p>
                  </a:txBody>
                  <a:tcPr anchor="ctr">
                    <a:lnL>
                      <a:noFill/>
                    </a:lnL>
                    <a:lnR>
                      <a:noFill/>
                    </a:lnR>
                    <a:lnT>
                      <a:noFill/>
                    </a:lnT>
                    <a:lnB>
                      <a:noFill/>
                    </a:lnB>
                    <a:noFill/>
                  </a:tcPr>
                </a:tc>
                <a:tc>
                  <a:txBody>
                    <a:bodyPr/>
                    <a:lstStyle/>
                    <a:p>
                      <a:pPr>
                        <a:buNone/>
                      </a:pPr>
                      <a:r>
                        <a:rPr lang="en-US" b="1"/>
                        <a:t>Development</a:t>
                      </a:r>
                      <a:endParaRPr lang="en-US"/>
                    </a:p>
                  </a:txBody>
                  <a:tcPr anchor="ctr">
                    <a:lnL>
                      <a:noFill/>
                    </a:lnL>
                    <a:lnR>
                      <a:noFill/>
                    </a:lnR>
                    <a:lnT>
                      <a:noFill/>
                    </a:lnT>
                    <a:lnB>
                      <a:noFill/>
                    </a:lnB>
                    <a:noFill/>
                  </a:tcPr>
                </a:tc>
                <a:tc>
                  <a:txBody>
                    <a:bodyPr/>
                    <a:lstStyle/>
                    <a:p>
                      <a:pPr>
                        <a:buNone/>
                      </a:pPr>
                      <a:r>
                        <a:rPr lang="en-US"/>
                        <a:t>Week 3: Build backend + model integrationWeek 4: Build frontend UI</a:t>
                      </a:r>
                    </a:p>
                  </a:txBody>
                  <a:tcPr anchor="ctr">
                    <a:lnL>
                      <a:noFill/>
                    </a:lnL>
                    <a:lnR>
                      <a:noFill/>
                    </a:lnR>
                    <a:lnT>
                      <a:noFill/>
                    </a:lnT>
                    <a:lnB>
                      <a:noFill/>
                    </a:lnB>
                    <a:noFill/>
                  </a:tcPr>
                </a:tc>
                <a:extLst>
                  <a:ext uri="{0D108BD9-81ED-4DB2-BD59-A6C34878D82A}">
                    <a16:rowId xmlns:a16="http://schemas.microsoft.com/office/drawing/2014/main" val="231997085"/>
                  </a:ext>
                </a:extLst>
              </a:tr>
              <a:tr h="603486">
                <a:tc>
                  <a:txBody>
                    <a:bodyPr/>
                    <a:lstStyle/>
                    <a:p>
                      <a:pPr>
                        <a:buNone/>
                      </a:pPr>
                      <a:r>
                        <a:rPr lang="en-US"/>
                        <a:t>Week 5</a:t>
                      </a:r>
                    </a:p>
                  </a:txBody>
                  <a:tcPr anchor="ctr">
                    <a:lnL>
                      <a:noFill/>
                    </a:lnL>
                    <a:lnR>
                      <a:noFill/>
                    </a:lnR>
                    <a:lnT>
                      <a:noFill/>
                    </a:lnT>
                    <a:lnB>
                      <a:noFill/>
                    </a:lnB>
                    <a:noFill/>
                  </a:tcPr>
                </a:tc>
                <a:tc>
                  <a:txBody>
                    <a:bodyPr/>
                    <a:lstStyle/>
                    <a:p>
                      <a:pPr>
                        <a:buNone/>
                      </a:pPr>
                      <a:r>
                        <a:rPr lang="en-US" b="1"/>
                        <a:t>Integration</a:t>
                      </a:r>
                      <a:endParaRPr lang="en-US"/>
                    </a:p>
                  </a:txBody>
                  <a:tcPr anchor="ctr">
                    <a:lnL>
                      <a:noFill/>
                    </a:lnL>
                    <a:lnR>
                      <a:noFill/>
                    </a:lnR>
                    <a:lnT>
                      <a:noFill/>
                    </a:lnT>
                    <a:lnB>
                      <a:noFill/>
                    </a:lnB>
                    <a:noFill/>
                  </a:tcPr>
                </a:tc>
                <a:tc>
                  <a:txBody>
                    <a:bodyPr/>
                    <a:lstStyle/>
                    <a:p>
                      <a:pPr>
                        <a:buNone/>
                      </a:pPr>
                      <a:r>
                        <a:rPr lang="en-US"/>
                        <a:t>Connect frontend and backend; implement core features</a:t>
                      </a:r>
                    </a:p>
                  </a:txBody>
                  <a:tcPr anchor="ctr">
                    <a:lnL>
                      <a:noFill/>
                    </a:lnL>
                    <a:lnR>
                      <a:noFill/>
                    </a:lnR>
                    <a:lnT>
                      <a:noFill/>
                    </a:lnT>
                    <a:lnB>
                      <a:noFill/>
                    </a:lnB>
                    <a:noFill/>
                  </a:tcPr>
                </a:tc>
                <a:extLst>
                  <a:ext uri="{0D108BD9-81ED-4DB2-BD59-A6C34878D82A}">
                    <a16:rowId xmlns:a16="http://schemas.microsoft.com/office/drawing/2014/main" val="583786697"/>
                  </a:ext>
                </a:extLst>
              </a:tr>
              <a:tr h="603486">
                <a:tc>
                  <a:txBody>
                    <a:bodyPr/>
                    <a:lstStyle/>
                    <a:p>
                      <a:pPr>
                        <a:buNone/>
                      </a:pPr>
                      <a:r>
                        <a:rPr lang="en-US"/>
                        <a:t>Week 6</a:t>
                      </a:r>
                    </a:p>
                  </a:txBody>
                  <a:tcPr anchor="ctr">
                    <a:lnL>
                      <a:noFill/>
                    </a:lnL>
                    <a:lnR>
                      <a:noFill/>
                    </a:lnR>
                    <a:lnT>
                      <a:noFill/>
                    </a:lnT>
                    <a:lnB>
                      <a:noFill/>
                    </a:lnB>
                    <a:noFill/>
                  </a:tcPr>
                </a:tc>
                <a:tc>
                  <a:txBody>
                    <a:bodyPr/>
                    <a:lstStyle/>
                    <a:p>
                      <a:pPr>
                        <a:buNone/>
                      </a:pPr>
                      <a:r>
                        <a:rPr lang="en-US" b="1"/>
                        <a:t>Testing</a:t>
                      </a:r>
                      <a:endParaRPr lang="en-US"/>
                    </a:p>
                  </a:txBody>
                  <a:tcPr anchor="ctr">
                    <a:lnL>
                      <a:noFill/>
                    </a:lnL>
                    <a:lnR>
                      <a:noFill/>
                    </a:lnR>
                    <a:lnT>
                      <a:noFill/>
                    </a:lnT>
                    <a:lnB>
                      <a:noFill/>
                    </a:lnB>
                    <a:noFill/>
                  </a:tcPr>
                </a:tc>
                <a:tc>
                  <a:txBody>
                    <a:bodyPr/>
                    <a:lstStyle/>
                    <a:p>
                      <a:pPr>
                        <a:buNone/>
                      </a:pPr>
                      <a:r>
                        <a:rPr lang="en-US"/>
                        <a:t>Unit testing, integration testing, user testing</a:t>
                      </a:r>
                    </a:p>
                  </a:txBody>
                  <a:tcPr anchor="ctr">
                    <a:lnL>
                      <a:noFill/>
                    </a:lnL>
                    <a:lnR>
                      <a:noFill/>
                    </a:lnR>
                    <a:lnT>
                      <a:noFill/>
                    </a:lnT>
                    <a:lnB>
                      <a:noFill/>
                    </a:lnB>
                    <a:noFill/>
                  </a:tcPr>
                </a:tc>
                <a:extLst>
                  <a:ext uri="{0D108BD9-81ED-4DB2-BD59-A6C34878D82A}">
                    <a16:rowId xmlns:a16="http://schemas.microsoft.com/office/drawing/2014/main" val="813288646"/>
                  </a:ext>
                </a:extLst>
              </a:tr>
              <a:tr h="603486">
                <a:tc>
                  <a:txBody>
                    <a:bodyPr/>
                    <a:lstStyle/>
                    <a:p>
                      <a:pPr>
                        <a:buNone/>
                      </a:pPr>
                      <a:r>
                        <a:rPr lang="en-US"/>
                        <a:t>Week 7</a:t>
                      </a:r>
                    </a:p>
                  </a:txBody>
                  <a:tcPr anchor="ctr">
                    <a:lnL>
                      <a:noFill/>
                    </a:lnL>
                    <a:lnR>
                      <a:noFill/>
                    </a:lnR>
                    <a:lnT>
                      <a:noFill/>
                    </a:lnT>
                    <a:lnB>
                      <a:noFill/>
                    </a:lnB>
                    <a:noFill/>
                  </a:tcPr>
                </a:tc>
                <a:tc>
                  <a:txBody>
                    <a:bodyPr/>
                    <a:lstStyle/>
                    <a:p>
                      <a:pPr>
                        <a:buNone/>
                      </a:pPr>
                      <a:r>
                        <a:rPr lang="en-US" b="1"/>
                        <a:t>Deployment</a:t>
                      </a:r>
                      <a:endParaRPr lang="en-US"/>
                    </a:p>
                  </a:txBody>
                  <a:tcPr anchor="ctr">
                    <a:lnL>
                      <a:noFill/>
                    </a:lnL>
                    <a:lnR>
                      <a:noFill/>
                    </a:lnR>
                    <a:lnT>
                      <a:noFill/>
                    </a:lnT>
                    <a:lnB>
                      <a:noFill/>
                    </a:lnB>
                    <a:noFill/>
                  </a:tcPr>
                </a:tc>
                <a:tc>
                  <a:txBody>
                    <a:bodyPr/>
                    <a:lstStyle/>
                    <a:p>
                      <a:pPr>
                        <a:buNone/>
                      </a:pPr>
                      <a:r>
                        <a:rPr lang="en-US"/>
                        <a:t>Deploy to Hugging Face; add documentation</a:t>
                      </a:r>
                    </a:p>
                  </a:txBody>
                  <a:tcPr anchor="ctr">
                    <a:lnL>
                      <a:noFill/>
                    </a:lnL>
                    <a:lnR>
                      <a:noFill/>
                    </a:lnR>
                    <a:lnT>
                      <a:noFill/>
                    </a:lnT>
                    <a:lnB>
                      <a:noFill/>
                    </a:lnB>
                    <a:noFill/>
                  </a:tcPr>
                </a:tc>
                <a:extLst>
                  <a:ext uri="{0D108BD9-81ED-4DB2-BD59-A6C34878D82A}">
                    <a16:rowId xmlns:a16="http://schemas.microsoft.com/office/drawing/2014/main" val="533123913"/>
                  </a:ext>
                </a:extLst>
              </a:tr>
              <a:tr h="354992">
                <a:tc>
                  <a:txBody>
                    <a:bodyPr/>
                    <a:lstStyle/>
                    <a:p>
                      <a:pPr>
                        <a:buNone/>
                      </a:pPr>
                      <a:r>
                        <a:rPr lang="en-US"/>
                        <a:t>Week 8</a:t>
                      </a:r>
                    </a:p>
                  </a:txBody>
                  <a:tcPr anchor="ctr">
                    <a:lnL>
                      <a:noFill/>
                    </a:lnL>
                    <a:lnR>
                      <a:noFill/>
                    </a:lnR>
                    <a:lnT>
                      <a:noFill/>
                    </a:lnT>
                    <a:lnB>
                      <a:noFill/>
                    </a:lnB>
                    <a:noFill/>
                  </a:tcPr>
                </a:tc>
                <a:tc>
                  <a:txBody>
                    <a:bodyPr/>
                    <a:lstStyle/>
                    <a:p>
                      <a:pPr>
                        <a:buNone/>
                      </a:pPr>
                      <a:r>
                        <a:rPr lang="en-US" b="1"/>
                        <a:t>Final Launch</a:t>
                      </a:r>
                      <a:endParaRPr lang="en-US"/>
                    </a:p>
                  </a:txBody>
                  <a:tcPr anchor="ctr">
                    <a:lnL>
                      <a:noFill/>
                    </a:lnL>
                    <a:lnR>
                      <a:noFill/>
                    </a:lnR>
                    <a:lnT>
                      <a:noFill/>
                    </a:lnT>
                    <a:lnB>
                      <a:noFill/>
                    </a:lnB>
                    <a:noFill/>
                  </a:tcPr>
                </a:tc>
                <a:tc>
                  <a:txBody>
                    <a:bodyPr/>
                    <a:lstStyle/>
                    <a:p>
                      <a:pPr>
                        <a:buNone/>
                      </a:pPr>
                      <a:r>
                        <a:rPr lang="en-US" dirty="0"/>
                        <a:t>Final QA, fixes, and release</a:t>
                      </a:r>
                    </a:p>
                  </a:txBody>
                  <a:tcPr anchor="ctr">
                    <a:lnL>
                      <a:noFill/>
                    </a:lnL>
                    <a:lnR>
                      <a:noFill/>
                    </a:lnR>
                    <a:lnT>
                      <a:noFill/>
                    </a:lnT>
                    <a:lnB>
                      <a:noFill/>
                    </a:lnB>
                    <a:noFill/>
                  </a:tcPr>
                </a:tc>
                <a:extLst>
                  <a:ext uri="{0D108BD9-81ED-4DB2-BD59-A6C34878D82A}">
                    <a16:rowId xmlns:a16="http://schemas.microsoft.com/office/drawing/2014/main" val="3366388205"/>
                  </a:ext>
                </a:extLst>
              </a:tr>
            </a:tbl>
          </a:graphicData>
        </a:graphic>
      </p:graphicFrame>
    </p:spTree>
    <p:extLst>
      <p:ext uri="{BB962C8B-B14F-4D97-AF65-F5344CB8AC3E}">
        <p14:creationId xmlns:p14="http://schemas.microsoft.com/office/powerpoint/2010/main" val="1208946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0"/>
          <p:cNvSpPr txBox="1">
            <a:spLocks noGrp="1"/>
          </p:cNvSpPr>
          <p:nvPr>
            <p:ph type="body" idx="1"/>
          </p:nvPr>
        </p:nvSpPr>
        <p:spPr>
          <a:xfrm>
            <a:off x="91440" y="1246505"/>
            <a:ext cx="7152640" cy="4351338"/>
          </a:xfrm>
          <a:prstGeom prst="rect">
            <a:avLst/>
          </a:prstGeom>
          <a:noFill/>
          <a:ln>
            <a:noFill/>
          </a:ln>
        </p:spPr>
        <p:txBody>
          <a:bodyPr spcFirstLastPara="1" wrap="square" lIns="91425" tIns="45700" rIns="91425" bIns="45700" anchor="t" anchorCtr="0">
            <a:normAutofit/>
          </a:bodyPr>
          <a:lstStyle/>
          <a:p>
            <a:pPr marL="228600" indent="-50800">
              <a:spcBef>
                <a:spcPts val="0"/>
              </a:spcBef>
              <a:buSzPts val="2800"/>
              <a:buNone/>
            </a:pPr>
            <a:endParaRPr lang="en-US" b="1" dirty="0"/>
          </a:p>
          <a:p>
            <a:pPr marL="228600" indent="-50800">
              <a:spcBef>
                <a:spcPts val="0"/>
              </a:spcBef>
              <a:buSzPts val="2800"/>
              <a:buNone/>
            </a:pPr>
            <a:endParaRPr lang="en-US" b="1" dirty="0"/>
          </a:p>
          <a:p>
            <a:pPr marL="228600" indent="-50800">
              <a:spcBef>
                <a:spcPts val="0"/>
              </a:spcBef>
              <a:buSzPts val="2800"/>
              <a:buNone/>
            </a:pPr>
            <a:endParaRPr lang="en-US" b="1" dirty="0"/>
          </a:p>
          <a:p>
            <a:pPr marL="228600" indent="-50800">
              <a:spcBef>
                <a:spcPts val="0"/>
              </a:spcBef>
              <a:buSzPts val="2800"/>
              <a:buNone/>
            </a:pPr>
            <a:endParaRPr lang="en-US" b="1" dirty="0"/>
          </a:p>
          <a:p>
            <a:pPr marL="228600" indent="-50800" algn="ctr">
              <a:spcBef>
                <a:spcPts val="0"/>
              </a:spcBef>
              <a:buSzPts val="2800"/>
              <a:buNone/>
            </a:pPr>
            <a:r>
              <a:rPr lang="en-US" b="1" dirty="0"/>
              <a:t>AI-Powered Creative Writing Assistant</a:t>
            </a:r>
            <a:br>
              <a:rPr lang="ar-EG" b="1" dirty="0"/>
            </a:br>
            <a:br>
              <a:rPr lang="en-US" b="1" dirty="0"/>
            </a:br>
            <a:r>
              <a:rPr lang="en-US" sz="1600" dirty="0"/>
              <a:t>https://huggingface.co/spaces/Fatma5shawqy/creative-writing-assistant</a:t>
            </a:r>
          </a:p>
          <a:p>
            <a:pPr marL="228600" lvl="0" indent="-50800" algn="l" rtl="0">
              <a:lnSpc>
                <a:spcPct val="90000"/>
              </a:lnSpc>
              <a:spcBef>
                <a:spcPts val="0"/>
              </a:spcBef>
              <a:spcAft>
                <a:spcPts val="0"/>
              </a:spcAft>
              <a:buClr>
                <a:schemeClr val="dk1"/>
              </a:buClr>
              <a:buSzPts val="2800"/>
              <a:buNone/>
            </a:pPr>
            <a:endParaRPr dirty="0"/>
          </a:p>
        </p:txBody>
      </p:sp>
      <p:sp>
        <p:nvSpPr>
          <p:cNvPr id="202" name="Google Shape;202;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204" name="Google Shape;204;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
        <p:nvSpPr>
          <p:cNvPr id="206" name="Google Shape;206;p10"/>
          <p:cNvSpPr/>
          <p:nvPr/>
        </p:nvSpPr>
        <p:spPr>
          <a:xfrm>
            <a:off x="7346372" y="1994650"/>
            <a:ext cx="4196424" cy="49502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spcFirstLastPara="1" wrap="square" lIns="91425" tIns="45700" rIns="91425" bIns="45700" anchor="t" anchorCtr="0">
            <a:noAutofit/>
          </a:bodyPr>
          <a:lstStyle/>
          <a:p>
            <a:pPr algn="ctr"/>
            <a:r>
              <a:rPr lang="en-US" sz="1600" dirty="0">
                <a:solidFill>
                  <a:schemeClr val="bg1"/>
                </a:solidFill>
                <a:latin typeface="Calibri"/>
                <a:cs typeface="Calibri"/>
                <a:sym typeface="Calibri"/>
              </a:rPr>
              <a:t>Alaa Taha EL Maria</a:t>
            </a:r>
            <a:br>
              <a:rPr lang="en-US" sz="1800" dirty="0">
                <a:solidFill>
                  <a:schemeClr val="bg1"/>
                </a:solidFill>
                <a:latin typeface="Calibri"/>
                <a:cs typeface="Calibri"/>
                <a:sym typeface="Calibri"/>
              </a:rPr>
            </a:br>
            <a:r>
              <a:rPr lang="en-US" dirty="0">
                <a:solidFill>
                  <a:schemeClr val="bg1"/>
                </a:solidFill>
                <a:latin typeface="Calibri"/>
                <a:cs typeface="Calibri"/>
                <a:sym typeface="Calibri"/>
              </a:rPr>
              <a:t>MI Engineer</a:t>
            </a:r>
            <a:endParaRPr lang="en-US" sz="1800" dirty="0">
              <a:solidFill>
                <a:schemeClr val="bg1"/>
              </a:solidFill>
              <a:latin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07" name="Google Shape;207;p10"/>
          <p:cNvSpPr/>
          <p:nvPr/>
        </p:nvSpPr>
        <p:spPr>
          <a:xfrm>
            <a:off x="7346372" y="1310641"/>
            <a:ext cx="4196424" cy="49502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spcFirstLastPara="1" wrap="square" lIns="91425" tIns="45700" rIns="91425" bIns="45700" anchor="t" anchorCtr="0">
            <a:noAutofit/>
          </a:bodyPr>
          <a:lstStyle/>
          <a:p>
            <a:pPr algn="ctr"/>
            <a:r>
              <a:rPr lang="en-US" sz="1600" dirty="0">
                <a:solidFill>
                  <a:schemeClr val="bg1"/>
                </a:solidFill>
                <a:latin typeface="Calibri"/>
                <a:ea typeface="Calibri"/>
                <a:cs typeface="Calibri"/>
                <a:sym typeface="Calibri"/>
              </a:rPr>
              <a:t>Hosam </a:t>
            </a:r>
            <a:r>
              <a:rPr lang="en-US" sz="1600" dirty="0" err="1">
                <a:solidFill>
                  <a:schemeClr val="bg1"/>
                </a:solidFill>
                <a:latin typeface="Calibri"/>
                <a:ea typeface="Calibri"/>
                <a:cs typeface="Calibri"/>
                <a:sym typeface="Calibri"/>
              </a:rPr>
              <a:t>Eldein</a:t>
            </a:r>
            <a:r>
              <a:rPr lang="en-US" sz="1600" dirty="0">
                <a:solidFill>
                  <a:schemeClr val="bg1"/>
                </a:solidFill>
                <a:latin typeface="Calibri"/>
                <a:ea typeface="Calibri"/>
                <a:cs typeface="Calibri"/>
                <a:sym typeface="Calibri"/>
              </a:rPr>
              <a:t> Mohamed Elsheshtawy</a:t>
            </a:r>
            <a:br>
              <a:rPr lang="en-US" sz="1800" dirty="0">
                <a:solidFill>
                  <a:schemeClr val="bg1"/>
                </a:solidFill>
                <a:latin typeface="Calibri"/>
                <a:ea typeface="Calibri"/>
                <a:cs typeface="Calibri"/>
                <a:sym typeface="Calibri"/>
              </a:rPr>
            </a:br>
            <a:r>
              <a:rPr lang="en-US" dirty="0">
                <a:solidFill>
                  <a:schemeClr val="bg1"/>
                </a:solidFill>
                <a:latin typeface="Calibri"/>
                <a:ea typeface="Calibri"/>
                <a:cs typeface="Calibri"/>
                <a:sym typeface="Calibri"/>
              </a:rPr>
              <a:t>Team Leader</a:t>
            </a:r>
            <a:endParaRPr lang="en-US" sz="1800" dirty="0">
              <a:solidFill>
                <a:schemeClr val="bg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pic>
        <p:nvPicPr>
          <p:cNvPr id="2" name="Google Shape;110;p1">
            <a:extLst>
              <a:ext uri="{FF2B5EF4-FFF2-40B4-BE49-F238E27FC236}">
                <a16:creationId xmlns:a16="http://schemas.microsoft.com/office/drawing/2014/main" id="{E559F335-69B1-7484-EFC6-3ED9C8D58DA7}"/>
              </a:ext>
            </a:extLst>
          </p:cNvPr>
          <p:cNvPicPr preferRelativeResize="0"/>
          <p:nvPr/>
        </p:nvPicPr>
        <p:blipFill>
          <a:blip r:embed="rId3"/>
          <a:srcRect/>
          <a:stretch/>
        </p:blipFill>
        <p:spPr>
          <a:xfrm>
            <a:off x="9010943" y="6291124"/>
            <a:ext cx="1362250" cy="365125"/>
          </a:xfrm>
          <a:prstGeom prst="rect">
            <a:avLst/>
          </a:prstGeom>
          <a:noFill/>
          <a:ln>
            <a:noFill/>
          </a:ln>
        </p:spPr>
      </p:pic>
      <p:sp>
        <p:nvSpPr>
          <p:cNvPr id="3" name="Google Shape;206;p10">
            <a:extLst>
              <a:ext uri="{FF2B5EF4-FFF2-40B4-BE49-F238E27FC236}">
                <a16:creationId xmlns:a16="http://schemas.microsoft.com/office/drawing/2014/main" id="{5CBFABCD-5E74-02BE-6ABE-1889554E0DD5}"/>
              </a:ext>
            </a:extLst>
          </p:cNvPr>
          <p:cNvSpPr/>
          <p:nvPr/>
        </p:nvSpPr>
        <p:spPr>
          <a:xfrm>
            <a:off x="7346372" y="2678658"/>
            <a:ext cx="4196424" cy="49502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spcFirstLastPara="1" wrap="square" lIns="91425" tIns="45700" rIns="91425" bIns="45700" anchor="t" anchorCtr="0">
            <a:noAutofit/>
          </a:bodyPr>
          <a:lstStyle/>
          <a:p>
            <a:pPr algn="ctr">
              <a:lnSpc>
                <a:spcPct val="90000"/>
              </a:lnSpc>
              <a:buClr>
                <a:srgbClr val="0D0D0D"/>
              </a:buClr>
              <a:buSzPts val="2000"/>
            </a:pPr>
            <a:r>
              <a:rPr lang="en-US" sz="1600" dirty="0">
                <a:solidFill>
                  <a:schemeClr val="bg1"/>
                </a:solidFill>
                <a:latin typeface="Calibri"/>
                <a:cs typeface="Calibri"/>
                <a:sym typeface="Calibri"/>
              </a:rPr>
              <a:t>Fatma Shawky Mohamed </a:t>
            </a:r>
            <a:r>
              <a:rPr lang="en-US" sz="1600" dirty="0" err="1">
                <a:solidFill>
                  <a:schemeClr val="bg1"/>
                </a:solidFill>
                <a:latin typeface="Calibri"/>
                <a:cs typeface="Calibri"/>
                <a:sym typeface="Calibri"/>
              </a:rPr>
              <a:t>Elhely</a:t>
            </a:r>
            <a:br>
              <a:rPr lang="en-US" sz="1600" dirty="0">
                <a:solidFill>
                  <a:schemeClr val="bg1"/>
                </a:solidFill>
                <a:latin typeface="Calibri"/>
                <a:cs typeface="Calibri"/>
                <a:sym typeface="Calibri"/>
              </a:rPr>
            </a:br>
            <a:r>
              <a:rPr lang="en-US" dirty="0">
                <a:solidFill>
                  <a:schemeClr val="bg1"/>
                </a:solidFill>
                <a:latin typeface="Calibri"/>
                <a:cs typeface="Calibri"/>
                <a:sym typeface="Calibri"/>
              </a:rPr>
              <a:t>Developer</a:t>
            </a:r>
            <a:endParaRPr lang="en-US" sz="1600" dirty="0">
              <a:solidFill>
                <a:schemeClr val="bg1"/>
              </a:solidFill>
              <a:latin typeface="Calibri"/>
              <a:cs typeface="Calibri"/>
              <a:sym typeface="Calibri"/>
            </a:endParaRPr>
          </a:p>
        </p:txBody>
      </p:sp>
      <p:sp>
        <p:nvSpPr>
          <p:cNvPr id="4" name="Google Shape;206;p10">
            <a:extLst>
              <a:ext uri="{FF2B5EF4-FFF2-40B4-BE49-F238E27FC236}">
                <a16:creationId xmlns:a16="http://schemas.microsoft.com/office/drawing/2014/main" id="{5DD18C86-329F-824F-09F4-1F8268936407}"/>
              </a:ext>
            </a:extLst>
          </p:cNvPr>
          <p:cNvSpPr/>
          <p:nvPr/>
        </p:nvSpPr>
        <p:spPr>
          <a:xfrm>
            <a:off x="7346372" y="4198305"/>
            <a:ext cx="4196424" cy="49502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spcFirstLastPara="1" wrap="square" lIns="91425" tIns="45700" rIns="91425" bIns="45700" anchor="t" anchorCtr="0">
            <a:noAutofit/>
          </a:bodyPr>
          <a:lstStyle/>
          <a:p>
            <a:pPr lvl="0" algn="ctr"/>
            <a:r>
              <a:rPr lang="en-US" sz="1600" dirty="0">
                <a:solidFill>
                  <a:schemeClr val="bg1"/>
                </a:solidFill>
                <a:latin typeface="Calibri"/>
                <a:cs typeface="Calibri"/>
                <a:sym typeface="Calibri"/>
              </a:rPr>
              <a:t>Mohamed </a:t>
            </a:r>
            <a:r>
              <a:rPr lang="en-US" sz="1600" dirty="0" err="1">
                <a:solidFill>
                  <a:schemeClr val="bg1"/>
                </a:solidFill>
                <a:latin typeface="Calibri"/>
                <a:cs typeface="Calibri"/>
                <a:sym typeface="Calibri"/>
              </a:rPr>
              <a:t>Mohamed</a:t>
            </a:r>
            <a:r>
              <a:rPr lang="en-US" sz="1600" dirty="0">
                <a:solidFill>
                  <a:schemeClr val="bg1"/>
                </a:solidFill>
                <a:latin typeface="Calibri"/>
                <a:cs typeface="Calibri"/>
                <a:sym typeface="Calibri"/>
              </a:rPr>
              <a:t> </a:t>
            </a:r>
            <a:r>
              <a:rPr lang="en-US" sz="1600" dirty="0" err="1">
                <a:solidFill>
                  <a:schemeClr val="bg1"/>
                </a:solidFill>
                <a:latin typeface="Calibri"/>
                <a:cs typeface="Calibri"/>
                <a:sym typeface="Calibri"/>
              </a:rPr>
              <a:t>Abdelkawy</a:t>
            </a:r>
            <a:br>
              <a:rPr lang="en-US" sz="1600" dirty="0">
                <a:solidFill>
                  <a:schemeClr val="bg1"/>
                </a:solidFill>
                <a:latin typeface="Calibri"/>
                <a:cs typeface="Calibri"/>
                <a:sym typeface="Calibri"/>
              </a:rPr>
            </a:br>
            <a:r>
              <a:rPr lang="en-US" dirty="0">
                <a:solidFill>
                  <a:schemeClr val="bg1"/>
                </a:solidFill>
                <a:latin typeface="Calibri"/>
                <a:cs typeface="Calibri"/>
                <a:sym typeface="Calibri"/>
              </a:rPr>
              <a:t>MOLOPS</a:t>
            </a:r>
            <a:endParaRPr sz="1600" dirty="0">
              <a:solidFill>
                <a:schemeClr val="bg1"/>
              </a:solidFill>
              <a:latin typeface="Calibri"/>
              <a:ea typeface="Calibri"/>
              <a:cs typeface="Calibri"/>
              <a:sym typeface="Calibri"/>
            </a:endParaRPr>
          </a:p>
        </p:txBody>
      </p:sp>
      <p:sp>
        <p:nvSpPr>
          <p:cNvPr id="5" name="Google Shape;207;p10">
            <a:extLst>
              <a:ext uri="{FF2B5EF4-FFF2-40B4-BE49-F238E27FC236}">
                <a16:creationId xmlns:a16="http://schemas.microsoft.com/office/drawing/2014/main" id="{8976BED7-B1AB-8A47-D42B-8435D997B144}"/>
              </a:ext>
            </a:extLst>
          </p:cNvPr>
          <p:cNvSpPr/>
          <p:nvPr/>
        </p:nvSpPr>
        <p:spPr>
          <a:xfrm>
            <a:off x="7346372" y="3422174"/>
            <a:ext cx="4196424" cy="49502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spcFirstLastPara="1" wrap="square" lIns="91425" tIns="45700" rIns="91425" bIns="45700" anchor="t" anchorCtr="0">
            <a:noAutofit/>
          </a:bodyPr>
          <a:lstStyle/>
          <a:p>
            <a:pPr algn="ctr"/>
            <a:r>
              <a:rPr lang="en-US" sz="1600" dirty="0">
                <a:solidFill>
                  <a:schemeClr val="bg1"/>
                </a:solidFill>
                <a:latin typeface="Calibri"/>
                <a:cs typeface="Calibri"/>
                <a:sym typeface="Calibri"/>
              </a:rPr>
              <a:t>Yasser Ahmed Shawky</a:t>
            </a:r>
            <a:br>
              <a:rPr lang="en-US" sz="1800" dirty="0">
                <a:solidFill>
                  <a:schemeClr val="bg1"/>
                </a:solidFill>
                <a:latin typeface="Calibri"/>
                <a:cs typeface="Calibri"/>
                <a:sym typeface="Calibri"/>
              </a:rPr>
            </a:br>
            <a:r>
              <a:rPr lang="en-US" dirty="0">
                <a:solidFill>
                  <a:schemeClr val="bg1"/>
                </a:solidFill>
                <a:latin typeface="Calibri"/>
                <a:cs typeface="Calibri"/>
                <a:sym typeface="Calibri"/>
              </a:rPr>
              <a:t>Development &amp; training</a:t>
            </a:r>
            <a:endParaRPr lang="en-US" sz="1800" dirty="0">
              <a:solidFill>
                <a:schemeClr val="bg1"/>
              </a:solidFill>
              <a:latin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6" name="Google Shape;206;p10">
            <a:extLst>
              <a:ext uri="{FF2B5EF4-FFF2-40B4-BE49-F238E27FC236}">
                <a16:creationId xmlns:a16="http://schemas.microsoft.com/office/drawing/2014/main" id="{84767D98-01E3-952D-3451-7E760BDE9739}"/>
              </a:ext>
            </a:extLst>
          </p:cNvPr>
          <p:cNvSpPr/>
          <p:nvPr/>
        </p:nvSpPr>
        <p:spPr>
          <a:xfrm>
            <a:off x="7346372" y="4988333"/>
            <a:ext cx="4196424" cy="49502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spcFirstLastPara="1" wrap="square" lIns="91425" tIns="45700" rIns="91425" bIns="45700" anchor="t" anchorCtr="0">
            <a:noAutofit/>
          </a:bodyPr>
          <a:lstStyle/>
          <a:p>
            <a:pPr algn="ctr">
              <a:lnSpc>
                <a:spcPct val="90000"/>
              </a:lnSpc>
              <a:buClr>
                <a:srgbClr val="0D0D0D"/>
              </a:buClr>
              <a:buSzPts val="2000"/>
            </a:pPr>
            <a:r>
              <a:rPr lang="en-US" sz="1600" dirty="0">
                <a:solidFill>
                  <a:schemeClr val="bg1"/>
                </a:solidFill>
                <a:latin typeface="Calibri"/>
                <a:cs typeface="Calibri"/>
                <a:sym typeface="Calibri"/>
              </a:rPr>
              <a:t>Eslam Ragab Kamal</a:t>
            </a:r>
            <a:br>
              <a:rPr lang="en-US" sz="1600" dirty="0">
                <a:solidFill>
                  <a:schemeClr val="bg1"/>
                </a:solidFill>
                <a:latin typeface="Calibri"/>
                <a:cs typeface="Calibri"/>
                <a:sym typeface="Calibri"/>
              </a:rPr>
            </a:br>
            <a:r>
              <a:rPr lang="en-US" dirty="0">
                <a:solidFill>
                  <a:schemeClr val="bg1"/>
                </a:solidFill>
                <a:latin typeface="Calibri"/>
                <a:cs typeface="Calibri"/>
                <a:sym typeface="Calibri"/>
              </a:rPr>
              <a:t>Tester</a:t>
            </a:r>
            <a:endParaRPr lang="en-US" sz="2000" dirty="0">
              <a:solidFill>
                <a:schemeClr val="bg1"/>
              </a:solidFill>
              <a:latin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137" name="Google Shape;137;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
        <p:nvSpPr>
          <p:cNvPr id="139" name="Google Shape;139;p4"/>
          <p:cNvSpPr txBox="1"/>
          <p:nvPr/>
        </p:nvSpPr>
        <p:spPr>
          <a:xfrm>
            <a:off x="838200" y="2639834"/>
            <a:ext cx="10382435" cy="4016415"/>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rgbClr val="0D0D0D"/>
              </a:buClr>
              <a:buSzPts val="2000"/>
              <a:buFont typeface="Arial"/>
              <a:buNone/>
            </a:pPr>
            <a:r>
              <a:rPr lang="en-US" sz="6600" b="1" i="0" u="none" strike="noStrike" cap="none" dirty="0">
                <a:solidFill>
                  <a:srgbClr val="0D0D0D"/>
                </a:solidFill>
                <a:latin typeface="Arial"/>
                <a:ea typeface="Arial"/>
                <a:cs typeface="Arial"/>
                <a:sym typeface="Arial"/>
              </a:rPr>
              <a:t>Thank You </a:t>
            </a:r>
            <a:endParaRPr sz="4800" dirty="0"/>
          </a:p>
          <a:p>
            <a:pPr marR="0" lvl="0" algn="ctr" rtl="0">
              <a:lnSpc>
                <a:spcPct val="90000"/>
              </a:lnSpc>
              <a:spcBef>
                <a:spcPts val="1000"/>
              </a:spcBef>
              <a:spcAft>
                <a:spcPts val="0"/>
              </a:spcAft>
              <a:buClr>
                <a:srgbClr val="0D0D0D"/>
              </a:buClr>
              <a:buSzPts val="1800"/>
            </a:pPr>
            <a:r>
              <a:rPr lang="en-US" sz="2400" i="0" u="none" strike="noStrike" cap="none" dirty="0">
                <a:solidFill>
                  <a:srgbClr val="0D0D0D"/>
                </a:solidFill>
                <a:latin typeface="Arial"/>
                <a:ea typeface="Arial"/>
                <a:cs typeface="Arial"/>
                <a:sym typeface="Arial"/>
              </a:rPr>
              <a:t>Feel Free to ask </a:t>
            </a:r>
            <a:endParaRPr sz="1800" dirty="0"/>
          </a:p>
        </p:txBody>
      </p:sp>
      <p:pic>
        <p:nvPicPr>
          <p:cNvPr id="2" name="Google Shape;110;p1">
            <a:extLst>
              <a:ext uri="{FF2B5EF4-FFF2-40B4-BE49-F238E27FC236}">
                <a16:creationId xmlns:a16="http://schemas.microsoft.com/office/drawing/2014/main" id="{EEF23E53-BC50-EAD2-E1C7-F84DDAAA679F}"/>
              </a:ext>
            </a:extLst>
          </p:cNvPr>
          <p:cNvPicPr preferRelativeResize="0"/>
          <p:nvPr/>
        </p:nvPicPr>
        <p:blipFill>
          <a:blip r:embed="rId3"/>
          <a:srcRect/>
          <a:stretch/>
        </p:blipFill>
        <p:spPr>
          <a:xfrm>
            <a:off x="9010943" y="6291124"/>
            <a:ext cx="1362250" cy="36512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204</TotalTime>
  <Words>1789</Words>
  <Application>Microsoft Office PowerPoint</Application>
  <PresentationFormat>Widescreen</PresentationFormat>
  <Paragraphs>179</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SAMA</dc:creator>
  <cp:lastModifiedBy>Hossam ElSheshtawy</cp:lastModifiedBy>
  <cp:revision>38</cp:revision>
  <dcterms:created xsi:type="dcterms:W3CDTF">2024-03-14T10:03:54Z</dcterms:created>
  <dcterms:modified xsi:type="dcterms:W3CDTF">2025-12-03T18:11:44Z</dcterms:modified>
</cp:coreProperties>
</file>